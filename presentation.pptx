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Playfair Display"/>
      <p:bold r:id="rId16"/>
      <p:boldItalic r:id="rId17"/>
    </p:embeddedFont>
    <p:embeddedFont>
      <p:font typeface="Lato"/>
      <p:bold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z3G1TmWyGyIHGxGrcEiCi01uL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BD185C-7CF8-4867-B89C-8E54964398B5}">
  <a:tblStyle styleId="{EDBD185C-7CF8-4867-B89C-8E54964398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0" y="0"/>
            <a:ext cx="18297715" cy="754952"/>
          </a:xfrm>
          <a:custGeom>
            <a:rect b="b" l="l" r="r" t="t"/>
            <a:pathLst>
              <a:path extrusionOk="0" h="1006602" w="24396954">
                <a:moveTo>
                  <a:pt x="0" y="0"/>
                </a:moveTo>
                <a:lnTo>
                  <a:pt x="24396954" y="0"/>
                </a:lnTo>
                <a:lnTo>
                  <a:pt x="24396954" y="1006602"/>
                </a:lnTo>
                <a:lnTo>
                  <a:pt x="0" y="1006602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709146" y="146009"/>
            <a:ext cx="12171169" cy="494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HERCOR COLLEGE  ·  COMPUTER SCIENCE DEPARTMENT  ·  FE101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0" y="754971"/>
            <a:ext cx="164687" cy="9540050"/>
          </a:xfrm>
          <a:custGeom>
            <a:rect b="b" l="l" r="r" t="t"/>
            <a:pathLst>
              <a:path extrusionOk="0" h="12720066" w="219583">
                <a:moveTo>
                  <a:pt x="0" y="0"/>
                </a:moveTo>
                <a:lnTo>
                  <a:pt x="219583" y="0"/>
                </a:lnTo>
                <a:lnTo>
                  <a:pt x="219583" y="12720066"/>
                </a:lnTo>
                <a:lnTo>
                  <a:pt x="0" y="12720066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846411" y="1555661"/>
            <a:ext cx="10798502" cy="183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5" u="none" cap="none" strike="noStrike">
                <a:solidFill>
                  <a:srgbClr val="F5E6C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Two Proposals for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5" u="none" cap="none" strike="noStrike">
                <a:solidFill>
                  <a:srgbClr val="F5E6C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Roxas City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46411" y="3673773"/>
            <a:ext cx="10112159" cy="741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2E866E"/>
                </a:solidFill>
                <a:latin typeface="Lato"/>
                <a:ea typeface="Lato"/>
                <a:cs typeface="Lato"/>
                <a:sym typeface="Lato"/>
              </a:rPr>
              <a:t>TrikeRoxas FairFare Portal  ·  BalayCapiz Student Housing Portal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54971" y="4598451"/>
            <a:ext cx="9608725" cy="54864"/>
          </a:xfrm>
          <a:custGeom>
            <a:rect b="b" l="l" r="r" t="t"/>
            <a:pathLst>
              <a:path extrusionOk="0" h="73152" w="12811633">
                <a:moveTo>
                  <a:pt x="0" y="0"/>
                </a:moveTo>
                <a:lnTo>
                  <a:pt x="12811633" y="0"/>
                </a:lnTo>
                <a:lnTo>
                  <a:pt x="12811633" y="73152"/>
                </a:lnTo>
                <a:lnTo>
                  <a:pt x="0" y="73152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846411" y="4918710"/>
            <a:ext cx="4621473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F5E6C8"/>
                </a:solidFill>
                <a:latin typeface="Lato"/>
                <a:ea typeface="Lato"/>
                <a:cs typeface="Lato"/>
                <a:sym typeface="Lato"/>
              </a:rPr>
              <a:t>Marvin John Aldea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846411" y="5495230"/>
            <a:ext cx="4621473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Johnfritz Tibudan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46411" y="6071749"/>
            <a:ext cx="4621473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Joshua Dumaniel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5993930" y="4918710"/>
            <a:ext cx="4621473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Kim Borro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993930" y="5495230"/>
            <a:ext cx="4621473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Sofia Anne Villa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846411" y="7036822"/>
            <a:ext cx="10798502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Course: FE101 – Start-Up Tech-Based Proposal Activity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46411" y="7517263"/>
            <a:ext cx="10798502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Instructor: Michelle S. Jamelarin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46411" y="7997695"/>
            <a:ext cx="10798502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Date Submitted: September 9, 2026  ·  Roxas City, Capiz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3081568" y="754971"/>
            <a:ext cx="5216176" cy="2745390"/>
          </a:xfrm>
          <a:custGeom>
            <a:rect b="b" l="l" r="r" t="t"/>
            <a:pathLst>
              <a:path extrusionOk="0" h="3660521" w="6954901">
                <a:moveTo>
                  <a:pt x="0" y="0"/>
                </a:moveTo>
                <a:lnTo>
                  <a:pt x="6954901" y="0"/>
                </a:lnTo>
                <a:lnTo>
                  <a:pt x="6954901" y="3660521"/>
                </a:lnTo>
                <a:lnTo>
                  <a:pt x="0" y="3660521"/>
                </a:lnTo>
                <a:close/>
              </a:path>
            </a:pathLst>
          </a:custGeom>
          <a:solidFill>
            <a:srgbClr val="1E4A40"/>
          </a:solid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13081568" y="3774853"/>
            <a:ext cx="5216176" cy="2745390"/>
          </a:xfrm>
          <a:custGeom>
            <a:rect b="b" l="l" r="r" t="t"/>
            <a:pathLst>
              <a:path extrusionOk="0" h="3660521" w="6954901">
                <a:moveTo>
                  <a:pt x="0" y="0"/>
                </a:moveTo>
                <a:lnTo>
                  <a:pt x="6954901" y="0"/>
                </a:lnTo>
                <a:lnTo>
                  <a:pt x="6954901" y="3660521"/>
                </a:lnTo>
                <a:lnTo>
                  <a:pt x="0" y="3660521"/>
                </a:lnTo>
                <a:close/>
              </a:path>
            </a:pathLst>
          </a:custGeom>
          <a:solidFill>
            <a:srgbClr val="1E4A40"/>
          </a:solid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13081568" y="6794725"/>
            <a:ext cx="5216176" cy="2745390"/>
          </a:xfrm>
          <a:custGeom>
            <a:rect b="b" l="l" r="r" t="t"/>
            <a:pathLst>
              <a:path extrusionOk="0" h="3660521" w="6954901">
                <a:moveTo>
                  <a:pt x="0" y="0"/>
                </a:moveTo>
                <a:lnTo>
                  <a:pt x="6954901" y="0"/>
                </a:lnTo>
                <a:lnTo>
                  <a:pt x="6954901" y="3660521"/>
                </a:lnTo>
                <a:lnTo>
                  <a:pt x="0" y="3660521"/>
                </a:lnTo>
                <a:close/>
              </a:path>
            </a:pathLst>
          </a:custGeom>
          <a:solidFill>
            <a:srgbClr val="1E4A40"/>
          </a:solidFill>
          <a:ln>
            <a:noFill/>
          </a:ln>
        </p:spPr>
      </p:sp>
      <p:sp>
        <p:nvSpPr>
          <p:cNvPr id="102" name="Google Shape;102;p1"/>
          <p:cNvSpPr txBox="1"/>
          <p:nvPr/>
        </p:nvSpPr>
        <p:spPr>
          <a:xfrm>
            <a:off x="12857293" y="3477397"/>
            <a:ext cx="5307806" cy="2653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3" u="none" cap="none" strike="noStrike">
                <a:solidFill>
                  <a:srgbClr val="2E66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LAWAAN</a:t>
            </a:r>
            <a:endParaRPr/>
          </a:p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3" u="none" cap="none" strike="noStrike">
                <a:solidFill>
                  <a:srgbClr val="2E66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ROXAS CITY</a:t>
            </a:r>
            <a:endParaRPr/>
          </a:p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3" u="none" cap="none" strike="noStrike">
                <a:solidFill>
                  <a:srgbClr val="2E66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CAPIZ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104" name="Google Shape;104;p1"/>
          <p:cNvSpPr txBox="1"/>
          <p:nvPr/>
        </p:nvSpPr>
        <p:spPr>
          <a:xfrm>
            <a:off x="5993930" y="6044670"/>
            <a:ext cx="462147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Alleah Nicole Villasorca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AF7F2"/>
          </a:solid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0" y="0"/>
            <a:ext cx="8853773" cy="10295001"/>
          </a:xfrm>
          <a:custGeom>
            <a:rect b="b" l="l" r="r" t="t"/>
            <a:pathLst>
              <a:path extrusionOk="0" h="13726668" w="11805031">
                <a:moveTo>
                  <a:pt x="0" y="0"/>
                </a:moveTo>
                <a:lnTo>
                  <a:pt x="11805031" y="0"/>
                </a:lnTo>
                <a:lnTo>
                  <a:pt x="11805031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480431" y="439255"/>
            <a:ext cx="5490686" cy="384334"/>
          </a:xfrm>
          <a:custGeom>
            <a:rect b="b" l="l" r="r" t="t"/>
            <a:pathLst>
              <a:path extrusionOk="0" h="512445" w="7320915">
                <a:moveTo>
                  <a:pt x="0" y="0"/>
                </a:moveTo>
                <a:lnTo>
                  <a:pt x="7320915" y="0"/>
                </a:lnTo>
                <a:lnTo>
                  <a:pt x="7320915" y="512445"/>
                </a:lnTo>
                <a:lnTo>
                  <a:pt x="0" y="512445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709146" y="475450"/>
            <a:ext cx="5170541" cy="30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LOCAL PROBLEM CONTEXT — SLIDE 2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571871" y="1171308"/>
            <a:ext cx="7641355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302" u="none" cap="none" strike="noStrike">
                <a:solidFill>
                  <a:srgbClr val="F5E6C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“How much for TATC to Lawaan?”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571871" y="2310632"/>
            <a:ext cx="7641355" cy="375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jeepney doesn't run this stretch. You flag a tricycle.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driver says ₱100. The official Special-Trip ceiling is ₱60.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It is 10 PM. You have class tomorrow. You pay.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51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is not an edge case — it is the default after dark in Roxas City.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Drivers demand ₱80–₱150 on short 2–3 km routes under the label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"Special Trip," exploiting a clause meant for cargo, not commuters.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Over 99% of violations go unreported because filing requires a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formal affidavit at City Hall — during office hours.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480431" y="6314294"/>
            <a:ext cx="7824216" cy="1166812"/>
          </a:xfrm>
          <a:custGeom>
            <a:rect b="b" l="l" r="r" t="t"/>
            <a:pathLst>
              <a:path extrusionOk="0" h="1555750" w="10432288">
                <a:moveTo>
                  <a:pt x="0" y="0"/>
                </a:moveTo>
                <a:lnTo>
                  <a:pt x="10432288" y="0"/>
                </a:lnTo>
                <a:lnTo>
                  <a:pt x="10432288" y="1555750"/>
                </a:lnTo>
                <a:lnTo>
                  <a:pt x="0" y="1555750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116" name="Google Shape;116;p2"/>
          <p:cNvSpPr txBox="1"/>
          <p:nvPr/>
        </p:nvSpPr>
        <p:spPr>
          <a:xfrm>
            <a:off x="777773" y="6456102"/>
            <a:ext cx="7229551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Official Shared Fare: ₱15  ·  Student Rate: ₱12  ·  Special Trip Max: ₱60</a:t>
            </a:r>
            <a:endParaRPr/>
          </a:p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Demanded (TATC → Lawaan, 10 PM): ₱100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9356979" y="1171308"/>
            <a:ext cx="8327688" cy="800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2" u="none" cap="none" strike="noStrike">
                <a:solidFill>
                  <a:srgbClr val="1C3A3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Boarding-House Grind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9059637" y="0"/>
            <a:ext cx="109824" cy="10295001"/>
          </a:xfrm>
          <a:custGeom>
            <a:rect b="b" l="l" r="r" t="t"/>
            <a:pathLst>
              <a:path extrusionOk="0" h="13726668" w="146431">
                <a:moveTo>
                  <a:pt x="0" y="0"/>
                </a:moveTo>
                <a:lnTo>
                  <a:pt x="146431" y="0"/>
                </a:lnTo>
                <a:lnTo>
                  <a:pt x="146431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119" name="Google Shape;119;p2"/>
          <p:cNvSpPr txBox="1"/>
          <p:nvPr/>
        </p:nvSpPr>
        <p:spPr>
          <a:xfrm>
            <a:off x="9356979" y="2241994"/>
            <a:ext cx="8327688" cy="485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Every August, hundreds of students from Tapaz, Dumarao, and Jamindan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arrive in Roxas City to study at Hercor Lawaan, CapSU, and Filamer.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1C3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Finding a room means walking street-by-street under the Capiz sun,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or scrolling Facebook groups dense with outdated listings, missing prices,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and zero safety information.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1C3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What they eventually rent often hides: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· Electricity billed at ₱20–₱25/kWh (CAPELCO standard: ~₱11)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· Flood-prone ground floors never disclosed in listings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· No fire exits, no gate locks, no BFP clearance on file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9265539" y="7343794"/>
            <a:ext cx="8441912" cy="54864"/>
          </a:xfrm>
          <a:custGeom>
            <a:rect b="b" l="l" r="r" t="t"/>
            <a:pathLst>
              <a:path extrusionOk="0" h="73152" w="11255883">
                <a:moveTo>
                  <a:pt x="0" y="0"/>
                </a:moveTo>
                <a:lnTo>
                  <a:pt x="11255883" y="0"/>
                </a:lnTo>
                <a:lnTo>
                  <a:pt x="11255883" y="73152"/>
                </a:lnTo>
                <a:lnTo>
                  <a:pt x="0" y="73152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121" name="Google Shape;121;p2"/>
          <p:cNvSpPr txBox="1"/>
          <p:nvPr/>
        </p:nvSpPr>
        <p:spPr>
          <a:xfrm>
            <a:off x="9356979" y="7595416"/>
            <a:ext cx="8190424" cy="1006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Both problems share a root cause: information that exists in official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ordinances and landlord files — but is never surfaced to the people who need it.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5E6C8"/>
          </a:solidFill>
          <a:ln>
            <a:noFill/>
          </a:ln>
        </p:spPr>
      </p:sp>
      <p:sp>
        <p:nvSpPr>
          <p:cNvPr id="128" name="Google Shape;128;p3"/>
          <p:cNvSpPr/>
          <p:nvPr/>
        </p:nvSpPr>
        <p:spPr>
          <a:xfrm>
            <a:off x="0" y="0"/>
            <a:ext cx="18297715" cy="1509903"/>
          </a:xfrm>
          <a:custGeom>
            <a:rect b="b" l="l" r="r" t="t"/>
            <a:pathLst>
              <a:path extrusionOk="0" h="2013204" w="24396954">
                <a:moveTo>
                  <a:pt x="0" y="0"/>
                </a:moveTo>
                <a:lnTo>
                  <a:pt x="24396954" y="0"/>
                </a:lnTo>
                <a:lnTo>
                  <a:pt x="24396954" y="2013204"/>
                </a:lnTo>
                <a:lnTo>
                  <a:pt x="0" y="2013204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129" name="Google Shape;129;p3"/>
          <p:cNvSpPr txBox="1"/>
          <p:nvPr/>
        </p:nvSpPr>
        <p:spPr>
          <a:xfrm>
            <a:off x="640509" y="200920"/>
            <a:ext cx="6680483" cy="439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2E866E"/>
                </a:solidFill>
                <a:latin typeface="Lato"/>
                <a:ea typeface="Lato"/>
                <a:cs typeface="Lato"/>
                <a:sym typeface="Lato"/>
              </a:rPr>
              <a:t>PROPOSAL 1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40509" y="663426"/>
            <a:ext cx="13543845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TrikeRoxas FairFare Portal — Civic-Tech Fare Transparency &amp; LGU Accountability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640509" y="1761563"/>
            <a:ext cx="791588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D95B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Problem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640509" y="2379259"/>
            <a:ext cx="7915885" cy="1967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Tricycles are Roxas City's primary transit. Drivers routinely demand ₱80–₱150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for 2–3 km routes under the guise of "Special Trips," bypassing official LGU fare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matrices. The formal complaint process requires physical filing at City Hall with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affidavits — essentially designing impunity into the system.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40509" y="4575543"/>
            <a:ext cx="791588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D95B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Stakeholders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49069" y="5147520"/>
            <a:ext cx="2196274" cy="851059"/>
          </a:xfrm>
          <a:custGeom>
            <a:rect b="b" l="l" r="r" t="t"/>
            <a:pathLst>
              <a:path extrusionOk="0" h="1134745" w="2928366">
                <a:moveTo>
                  <a:pt x="0" y="0"/>
                </a:moveTo>
                <a:lnTo>
                  <a:pt x="2928366" y="0"/>
                </a:lnTo>
                <a:lnTo>
                  <a:pt x="2928366" y="1134745"/>
                </a:lnTo>
                <a:lnTo>
                  <a:pt x="0" y="1134745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777773" y="5293528"/>
            <a:ext cx="1738865" cy="604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Direct Beneficiaries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3042685" y="5330504"/>
            <a:ext cx="5445071" cy="59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Daily commuters, students, senior citizens, PWDs on strict budgets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49069" y="6177029"/>
            <a:ext cx="2196274" cy="851059"/>
          </a:xfrm>
          <a:custGeom>
            <a:rect b="b" l="l" r="r" t="t"/>
            <a:pathLst>
              <a:path extrusionOk="0" h="1134745" w="2928366">
                <a:moveTo>
                  <a:pt x="0" y="0"/>
                </a:moveTo>
                <a:lnTo>
                  <a:pt x="2928366" y="0"/>
                </a:lnTo>
                <a:lnTo>
                  <a:pt x="2928366" y="1134745"/>
                </a:lnTo>
                <a:lnTo>
                  <a:pt x="0" y="1134745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138" name="Google Shape;138;p3"/>
          <p:cNvSpPr txBox="1"/>
          <p:nvPr/>
        </p:nvSpPr>
        <p:spPr>
          <a:xfrm>
            <a:off x="777773" y="6323038"/>
            <a:ext cx="1738865" cy="604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Indirect Beneficiaries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3042685" y="6360014"/>
            <a:ext cx="5445071" cy="59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Compliant TODA operators whose reputation is damaged by rogue drivers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49069" y="7206529"/>
            <a:ext cx="2196274" cy="851059"/>
          </a:xfrm>
          <a:custGeom>
            <a:rect b="b" l="l" r="r" t="t"/>
            <a:pathLst>
              <a:path extrusionOk="0" h="1134745" w="2928366">
                <a:moveTo>
                  <a:pt x="0" y="0"/>
                </a:moveTo>
                <a:lnTo>
                  <a:pt x="2928366" y="0"/>
                </a:lnTo>
                <a:lnTo>
                  <a:pt x="2928366" y="1134745"/>
                </a:lnTo>
                <a:lnTo>
                  <a:pt x="0" y="1134745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141" name="Google Shape;141;p3"/>
          <p:cNvSpPr txBox="1"/>
          <p:nvPr/>
        </p:nvSpPr>
        <p:spPr>
          <a:xfrm>
            <a:off x="777773" y="7352538"/>
            <a:ext cx="1738865" cy="604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Institutional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3042685" y="7389514"/>
            <a:ext cx="5445071" cy="59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Roxas City TMO, Sangguniang Panlungsod Transport Committee, TODA Presidents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9128274" y="1509941"/>
            <a:ext cx="82392" cy="8785098"/>
          </a:xfrm>
          <a:custGeom>
            <a:rect b="b" l="l" r="r" t="t"/>
            <a:pathLst>
              <a:path extrusionOk="0" h="11713464" w="109855">
                <a:moveTo>
                  <a:pt x="0" y="0"/>
                </a:moveTo>
                <a:lnTo>
                  <a:pt x="109855" y="0"/>
                </a:lnTo>
                <a:lnTo>
                  <a:pt x="109855" y="11713464"/>
                </a:lnTo>
                <a:lnTo>
                  <a:pt x="0" y="11713464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144" name="Google Shape;144;p3"/>
          <p:cNvSpPr txBox="1"/>
          <p:nvPr/>
        </p:nvSpPr>
        <p:spPr>
          <a:xfrm>
            <a:off x="9700146" y="1761563"/>
            <a:ext cx="791588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1C3A3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Civic-Tech — Not Ride-Hailing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9700146" y="2379259"/>
            <a:ext cx="7915885" cy="485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Building a Grab-style app would require drivers to download and accept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strict pricing controls. TODAs would boycott immediately.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1C3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TrikeRoxas takes a different angle entirely: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1C3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· Zero driver app adoption required.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· QR code posters at terminals (TATC, Hercor Gate, Baybay) let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  passengers check the official fare in 3 seconds.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· Anonymous incident reporting is delayed — commuters leave first,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  file later — preventing on-site confrontations.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· The platform speaks to the LGU, not the driver. It converts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    passive frustration into timestamped, structured evidence.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9608706" y="7481068"/>
            <a:ext cx="8098727" cy="1441323"/>
          </a:xfrm>
          <a:custGeom>
            <a:rect b="b" l="l" r="r" t="t"/>
            <a:pathLst>
              <a:path extrusionOk="0" h="1921764" w="10798302">
                <a:moveTo>
                  <a:pt x="0" y="0"/>
                </a:moveTo>
                <a:lnTo>
                  <a:pt x="10798302" y="0"/>
                </a:lnTo>
                <a:lnTo>
                  <a:pt x="10798302" y="1921764"/>
                </a:lnTo>
                <a:lnTo>
                  <a:pt x="0" y="1921764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147" name="Google Shape;147;p3"/>
          <p:cNvSpPr txBox="1"/>
          <p:nvPr/>
        </p:nvSpPr>
        <p:spPr>
          <a:xfrm>
            <a:off x="9906048" y="7622867"/>
            <a:ext cx="7504081" cy="114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Enforcement Trigger: 3 independent verified reports within 30 days</a:t>
            </a:r>
            <a:endParaRPr/>
          </a:p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→ automated LGU administrative review flagged for that sidecar body number.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154" name="Google Shape;154;p4"/>
          <p:cNvSpPr/>
          <p:nvPr/>
        </p:nvSpPr>
        <p:spPr>
          <a:xfrm>
            <a:off x="0" y="0"/>
            <a:ext cx="18297715" cy="892207"/>
          </a:xfrm>
          <a:custGeom>
            <a:rect b="b" l="l" r="r" t="t"/>
            <a:pathLst>
              <a:path extrusionOk="0" h="1189609" w="24396954">
                <a:moveTo>
                  <a:pt x="0" y="0"/>
                </a:moveTo>
                <a:lnTo>
                  <a:pt x="24396954" y="0"/>
                </a:lnTo>
                <a:lnTo>
                  <a:pt x="24396954" y="1189609"/>
                </a:lnTo>
                <a:lnTo>
                  <a:pt x="0" y="1189609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155" name="Google Shape;155;p4"/>
          <p:cNvSpPr txBox="1"/>
          <p:nvPr/>
        </p:nvSpPr>
        <p:spPr>
          <a:xfrm>
            <a:off x="640509" y="182985"/>
            <a:ext cx="14916512" cy="567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TrikeRoxas — System Architecture  ·  LGU Dashboard  ·  Escalation Logic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470906" y="1225877"/>
            <a:ext cx="3313462" cy="1254443"/>
          </a:xfrm>
          <a:custGeom>
            <a:rect b="b" l="l" r="r" t="t"/>
            <a:pathLst>
              <a:path extrusionOk="0" h="1672590" w="4417949">
                <a:moveTo>
                  <a:pt x="0" y="0"/>
                </a:moveTo>
                <a:lnTo>
                  <a:pt x="4417949" y="0"/>
                </a:lnTo>
                <a:lnTo>
                  <a:pt x="4417949" y="1672590"/>
                </a:lnTo>
                <a:lnTo>
                  <a:pt x="0" y="1672590"/>
                </a:lnTo>
                <a:close/>
              </a:path>
            </a:pathLst>
          </a:custGeom>
          <a:solidFill>
            <a:srgbClr val="2E866E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709146" y="1340234"/>
            <a:ext cx="2905630" cy="439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Commuter Phone</a:t>
            </a:r>
            <a:endParaRPr/>
          </a:p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Browser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709146" y="1885102"/>
            <a:ext cx="2905630" cy="48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scan QR → web app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5206622" y="1225877"/>
            <a:ext cx="3862577" cy="1254443"/>
          </a:xfrm>
          <a:custGeom>
            <a:rect b="b" l="l" r="r" t="t"/>
            <a:pathLst>
              <a:path extrusionOk="0" h="1672590" w="5150104">
                <a:moveTo>
                  <a:pt x="0" y="0"/>
                </a:moveTo>
                <a:lnTo>
                  <a:pt x="5150104" y="0"/>
                </a:lnTo>
                <a:lnTo>
                  <a:pt x="5150104" y="1672590"/>
                </a:lnTo>
                <a:lnTo>
                  <a:pt x="0" y="1672590"/>
                </a:lnTo>
                <a:close/>
              </a:path>
            </a:pathLst>
          </a:custGeom>
          <a:solidFill>
            <a:srgbClr val="1E4A40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0" name="Google Shape;160;p4"/>
          <p:cNvSpPr txBox="1"/>
          <p:nvPr/>
        </p:nvSpPr>
        <p:spPr>
          <a:xfrm>
            <a:off x="5444861" y="1340234"/>
            <a:ext cx="3454698" cy="439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Web Frontend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444861" y="1885102"/>
            <a:ext cx="3454698" cy="48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HTML5 / Tailwind / Leaflet.js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Fare Calculation API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10285514" y="1225877"/>
            <a:ext cx="3313462" cy="1254443"/>
          </a:xfrm>
          <a:custGeom>
            <a:rect b="b" l="l" r="r" t="t"/>
            <a:pathLst>
              <a:path extrusionOk="0" h="1672590" w="4417949">
                <a:moveTo>
                  <a:pt x="0" y="0"/>
                </a:moveTo>
                <a:lnTo>
                  <a:pt x="4417949" y="0"/>
                </a:lnTo>
                <a:lnTo>
                  <a:pt x="4417949" y="1672590"/>
                </a:lnTo>
                <a:lnTo>
                  <a:pt x="0" y="1672590"/>
                </a:lnTo>
                <a:close/>
              </a:path>
            </a:pathLst>
          </a:custGeom>
          <a:solidFill>
            <a:srgbClr val="1E4A40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3" name="Google Shape;163;p4"/>
          <p:cNvSpPr txBox="1"/>
          <p:nvPr/>
        </p:nvSpPr>
        <p:spPr>
          <a:xfrm>
            <a:off x="10523753" y="1340234"/>
            <a:ext cx="2905630" cy="439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Cloud Backend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10523753" y="1885102"/>
            <a:ext cx="2905630" cy="48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Supabase / Node.js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14266259" y="1225877"/>
            <a:ext cx="3587972" cy="1254443"/>
          </a:xfrm>
          <a:custGeom>
            <a:rect b="b" l="l" r="r" t="t"/>
            <a:pathLst>
              <a:path extrusionOk="0" h="1672590" w="4783963">
                <a:moveTo>
                  <a:pt x="0" y="0"/>
                </a:moveTo>
                <a:lnTo>
                  <a:pt x="4783963" y="0"/>
                </a:lnTo>
                <a:lnTo>
                  <a:pt x="4783963" y="1672590"/>
                </a:lnTo>
                <a:lnTo>
                  <a:pt x="0" y="1672590"/>
                </a:lnTo>
                <a:close/>
              </a:path>
            </a:pathLst>
          </a:custGeom>
          <a:solidFill>
            <a:srgbClr val="D95B37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6" name="Google Shape;166;p4"/>
          <p:cNvSpPr txBox="1"/>
          <p:nvPr/>
        </p:nvSpPr>
        <p:spPr>
          <a:xfrm>
            <a:off x="14504499" y="1340234"/>
            <a:ext cx="3180169" cy="439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Automated Alert</a:t>
            </a:r>
            <a:endParaRPr/>
          </a:p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Engine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4504499" y="1885102"/>
            <a:ext cx="3180169" cy="48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→ TODA / LGU Admin</a:t>
            </a:r>
            <a:endParaRPr/>
          </a:p>
        </p:txBody>
      </p:sp>
      <p:cxnSp>
        <p:nvCxnSpPr>
          <p:cNvPr id="168" name="Google Shape;168;p4"/>
          <p:cNvCxnSpPr/>
          <p:nvPr/>
        </p:nvCxnSpPr>
        <p:spPr>
          <a:xfrm rot="88560">
            <a:off x="3755536" y="1843583"/>
            <a:ext cx="1479928" cy="0"/>
          </a:xfrm>
          <a:prstGeom prst="straightConnector1">
            <a:avLst/>
          </a:prstGeom>
          <a:noFill/>
          <a:ln cap="rnd" cmpd="sng" w="19050">
            <a:solidFill>
              <a:srgbClr val="D95B37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69" name="Google Shape;169;p4"/>
          <p:cNvCxnSpPr/>
          <p:nvPr/>
        </p:nvCxnSpPr>
        <p:spPr>
          <a:xfrm rot="102900">
            <a:off x="9040292" y="1843583"/>
            <a:ext cx="1274102" cy="0"/>
          </a:xfrm>
          <a:prstGeom prst="straightConnector1">
            <a:avLst/>
          </a:prstGeom>
          <a:noFill/>
          <a:ln cap="rnd" cmpd="sng" w="19050">
            <a:solidFill>
              <a:srgbClr val="D95B37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70" name="Google Shape;170;p4"/>
          <p:cNvCxnSpPr/>
          <p:nvPr/>
        </p:nvCxnSpPr>
        <p:spPr>
          <a:xfrm rot="180780">
            <a:off x="13569887" y="1843583"/>
            <a:ext cx="725472" cy="0"/>
          </a:xfrm>
          <a:prstGeom prst="straightConnector1">
            <a:avLst/>
          </a:prstGeom>
          <a:noFill/>
          <a:ln cap="rnd" cmpd="sng" w="19050">
            <a:solidFill>
              <a:srgbClr val="D95B37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71" name="Google Shape;171;p4"/>
          <p:cNvCxnSpPr/>
          <p:nvPr/>
        </p:nvCxnSpPr>
        <p:spPr>
          <a:xfrm rot="5247960">
            <a:off x="11726608" y="2671953"/>
            <a:ext cx="431292" cy="0"/>
          </a:xfrm>
          <a:prstGeom prst="straightConnector1">
            <a:avLst/>
          </a:prstGeom>
          <a:noFill/>
          <a:ln cap="rnd" cmpd="sng" w="9525">
            <a:solidFill>
              <a:srgbClr val="6B7B74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72" name="Google Shape;172;p4"/>
          <p:cNvSpPr/>
          <p:nvPr/>
        </p:nvSpPr>
        <p:spPr>
          <a:xfrm>
            <a:off x="10285514" y="2873083"/>
            <a:ext cx="3519393" cy="1048607"/>
          </a:xfrm>
          <a:custGeom>
            <a:rect b="b" l="l" r="r" t="t"/>
            <a:pathLst>
              <a:path extrusionOk="0" h="1398143" w="4692523">
                <a:moveTo>
                  <a:pt x="0" y="0"/>
                </a:moveTo>
                <a:lnTo>
                  <a:pt x="4692523" y="0"/>
                </a:lnTo>
                <a:lnTo>
                  <a:pt x="4692523" y="1398143"/>
                </a:lnTo>
                <a:lnTo>
                  <a:pt x="0" y="1398143"/>
                </a:lnTo>
                <a:close/>
              </a:path>
            </a:pathLst>
          </a:custGeom>
          <a:solidFill>
            <a:srgbClr val="112822"/>
          </a:solidFill>
          <a:ln cap="sq" cmpd="sng" w="19050">
            <a:solidFill>
              <a:srgbClr val="6B7B7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3" name="Google Shape;173;p4"/>
          <p:cNvSpPr txBox="1"/>
          <p:nvPr/>
        </p:nvSpPr>
        <p:spPr>
          <a:xfrm>
            <a:off x="10523753" y="2996965"/>
            <a:ext cx="2974267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866E"/>
                </a:solidFill>
                <a:latin typeface="Roboto Mono"/>
                <a:ea typeface="Roboto Mono"/>
                <a:cs typeface="Roboto Mono"/>
                <a:sym typeface="Roboto Mono"/>
              </a:rPr>
              <a:t>DB: Incident_Tickets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10523753" y="3449945"/>
            <a:ext cx="2974267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Body #, Fare, Location, Timestamp</a:t>
            </a:r>
            <a:endParaRPr/>
          </a:p>
        </p:txBody>
      </p:sp>
      <p:cxnSp>
        <p:nvCxnSpPr>
          <p:cNvPr id="175" name="Google Shape;175;p4"/>
          <p:cNvCxnSpPr/>
          <p:nvPr/>
        </p:nvCxnSpPr>
        <p:spPr>
          <a:xfrm rot="5247960">
            <a:off x="15501452" y="2671953"/>
            <a:ext cx="431292" cy="0"/>
          </a:xfrm>
          <a:prstGeom prst="straightConnector1">
            <a:avLst/>
          </a:prstGeom>
          <a:noFill/>
          <a:ln cap="rnd" cmpd="sng" w="9525">
            <a:solidFill>
              <a:srgbClr val="6B7B74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76" name="Google Shape;176;p4"/>
          <p:cNvSpPr/>
          <p:nvPr/>
        </p:nvSpPr>
        <p:spPr>
          <a:xfrm>
            <a:off x="14060357" y="2873083"/>
            <a:ext cx="3519393" cy="1048607"/>
          </a:xfrm>
          <a:custGeom>
            <a:rect b="b" l="l" r="r" t="t"/>
            <a:pathLst>
              <a:path extrusionOk="0" h="1398143" w="4692523">
                <a:moveTo>
                  <a:pt x="0" y="0"/>
                </a:moveTo>
                <a:lnTo>
                  <a:pt x="4692523" y="0"/>
                </a:lnTo>
                <a:lnTo>
                  <a:pt x="4692523" y="1398143"/>
                </a:lnTo>
                <a:lnTo>
                  <a:pt x="0" y="1398143"/>
                </a:lnTo>
                <a:close/>
              </a:path>
            </a:pathLst>
          </a:custGeom>
          <a:solidFill>
            <a:srgbClr val="112822"/>
          </a:solidFill>
          <a:ln cap="sq" cmpd="sng" w="19050">
            <a:solidFill>
              <a:srgbClr val="6B7B7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7" name="Google Shape;177;p4"/>
          <p:cNvSpPr txBox="1"/>
          <p:nvPr/>
        </p:nvSpPr>
        <p:spPr>
          <a:xfrm>
            <a:off x="14298597" y="2996965"/>
            <a:ext cx="2974267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866E"/>
                </a:solidFill>
                <a:latin typeface="Roboto Mono"/>
                <a:ea typeface="Roboto Mono"/>
                <a:cs typeface="Roboto Mono"/>
                <a:sym typeface="Roboto Mono"/>
              </a:rPr>
              <a:t>DB: Verified_Drivers / MTOP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14298597" y="3449945"/>
            <a:ext cx="2974267" cy="34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TODA association, plate records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466134" y="4240987"/>
            <a:ext cx="8401908" cy="5313426"/>
          </a:xfrm>
          <a:custGeom>
            <a:rect b="b" l="l" r="r" t="t"/>
            <a:pathLst>
              <a:path extrusionOk="0" h="7084568" w="11202543">
                <a:moveTo>
                  <a:pt x="0" y="0"/>
                </a:moveTo>
                <a:lnTo>
                  <a:pt x="11202543" y="0"/>
                </a:lnTo>
                <a:lnTo>
                  <a:pt x="11202543" y="7084568"/>
                </a:lnTo>
                <a:lnTo>
                  <a:pt x="0" y="7084568"/>
                </a:lnTo>
                <a:close/>
              </a:path>
            </a:pathLst>
          </a:custGeom>
          <a:solidFill>
            <a:srgbClr val="0E1E1A"/>
          </a:solidFill>
          <a:ln cap="sq" cmpd="sng" w="28575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0" name="Google Shape;180;p4"/>
          <p:cNvSpPr txBox="1"/>
          <p:nvPr/>
        </p:nvSpPr>
        <p:spPr>
          <a:xfrm>
            <a:off x="777773" y="4438269"/>
            <a:ext cx="7778620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2E866E"/>
                </a:solidFill>
                <a:latin typeface="Roboto Mono"/>
                <a:ea typeface="Roboto Mono"/>
                <a:cs typeface="Roboto Mono"/>
                <a:sym typeface="Roboto Mono"/>
              </a:rPr>
              <a:t>CITY HALL ENFORCEMENT DASHBOARD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777773" y="4918710"/>
            <a:ext cx="7778620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TODA Zone: Lawaan / TATC Route    Timeframe: Last 30 Days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686333" y="5325970"/>
            <a:ext cx="7892892" cy="41148"/>
          </a:xfrm>
          <a:custGeom>
            <a:rect b="b" l="l" r="r" t="t"/>
            <a:pathLst>
              <a:path extrusionOk="0" h="54864" w="10523855">
                <a:moveTo>
                  <a:pt x="0" y="0"/>
                </a:moveTo>
                <a:lnTo>
                  <a:pt x="10523855" y="0"/>
                </a:lnTo>
                <a:lnTo>
                  <a:pt x="10523855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6B7B74"/>
          </a:solidFill>
          <a:ln>
            <a:noFill/>
          </a:ln>
        </p:spPr>
      </p:sp>
      <p:sp>
        <p:nvSpPr>
          <p:cNvPr id="183" name="Google Shape;183;p4"/>
          <p:cNvSpPr txBox="1"/>
          <p:nvPr/>
        </p:nvSpPr>
        <p:spPr>
          <a:xfrm>
            <a:off x="777773" y="5605043"/>
            <a:ext cx="2425198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#1234  TATC TODA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3523117" y="5605043"/>
            <a:ext cx="2013394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5 Incidents logged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5696588" y="5504412"/>
            <a:ext cx="2676716" cy="494157"/>
          </a:xfrm>
          <a:custGeom>
            <a:rect b="b" l="l" r="r" t="t"/>
            <a:pathLst>
              <a:path extrusionOk="0" h="658876" w="3568954">
                <a:moveTo>
                  <a:pt x="0" y="0"/>
                </a:moveTo>
                <a:lnTo>
                  <a:pt x="3568954" y="0"/>
                </a:lnTo>
                <a:lnTo>
                  <a:pt x="3568954" y="658876"/>
                </a:lnTo>
                <a:lnTo>
                  <a:pt x="0" y="658876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186" name="Google Shape;186;p4"/>
          <p:cNvSpPr txBox="1"/>
          <p:nvPr/>
        </p:nvSpPr>
        <p:spPr>
          <a:xfrm>
            <a:off x="5856665" y="5605043"/>
            <a:ext cx="2425198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[ Generate Citation Warning ]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777773" y="6593367"/>
            <a:ext cx="2425198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#0882  Lawaan TODA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3523117" y="6593367"/>
            <a:ext cx="2013394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4 Incidents logged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5696588" y="6492745"/>
            <a:ext cx="2676716" cy="494157"/>
          </a:xfrm>
          <a:custGeom>
            <a:rect b="b" l="l" r="r" t="t"/>
            <a:pathLst>
              <a:path extrusionOk="0" h="658876" w="3568954">
                <a:moveTo>
                  <a:pt x="0" y="0"/>
                </a:moveTo>
                <a:lnTo>
                  <a:pt x="3568954" y="0"/>
                </a:lnTo>
                <a:lnTo>
                  <a:pt x="3568954" y="658876"/>
                </a:lnTo>
                <a:lnTo>
                  <a:pt x="0" y="658876"/>
                </a:lnTo>
                <a:close/>
              </a:path>
            </a:pathLst>
          </a:custGeom>
          <a:solidFill>
            <a:srgbClr val="2E6655"/>
          </a:solidFill>
          <a:ln>
            <a:noFill/>
          </a:ln>
        </p:spPr>
      </p:sp>
      <p:sp>
        <p:nvSpPr>
          <p:cNvPr id="190" name="Google Shape;190;p4"/>
          <p:cNvSpPr txBox="1"/>
          <p:nvPr/>
        </p:nvSpPr>
        <p:spPr>
          <a:xfrm>
            <a:off x="5856665" y="6593367"/>
            <a:ext cx="2425198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[ Flag for MTOP Review ]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777773" y="7581690"/>
            <a:ext cx="2425198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#0457  Baybay TODA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3523117" y="7581690"/>
            <a:ext cx="2013394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3 Incidents logged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5696588" y="7481068"/>
            <a:ext cx="2676716" cy="494157"/>
          </a:xfrm>
          <a:custGeom>
            <a:rect b="b" l="l" r="r" t="t"/>
            <a:pathLst>
              <a:path extrusionOk="0" h="658876" w="3568954">
                <a:moveTo>
                  <a:pt x="0" y="0"/>
                </a:moveTo>
                <a:lnTo>
                  <a:pt x="3568954" y="0"/>
                </a:lnTo>
                <a:lnTo>
                  <a:pt x="3568954" y="658876"/>
                </a:lnTo>
                <a:lnTo>
                  <a:pt x="0" y="658876"/>
                </a:lnTo>
                <a:close/>
              </a:path>
            </a:pathLst>
          </a:custGeom>
          <a:solidFill>
            <a:srgbClr val="2E6655"/>
          </a:solidFill>
          <a:ln>
            <a:noFill/>
          </a:ln>
        </p:spPr>
      </p:sp>
      <p:sp>
        <p:nvSpPr>
          <p:cNvPr id="194" name="Google Shape;194;p4"/>
          <p:cNvSpPr txBox="1"/>
          <p:nvPr/>
        </p:nvSpPr>
        <p:spPr>
          <a:xfrm>
            <a:off x="5856665" y="7581690"/>
            <a:ext cx="2425198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[ Automated Alert Sent ]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777773" y="8752665"/>
            <a:ext cx="7709983" cy="604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Weekly PDF summaries auto-generated → sent to TODA Presidents</a:t>
            </a:r>
            <a:endParaRPr/>
          </a:p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for internal action before formal LGU franchise reviews.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9562881" y="4301004"/>
            <a:ext cx="8053159" cy="45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1" u="none" cap="none" strike="noStrike">
                <a:solidFill>
                  <a:srgbClr val="F5E6C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Escalation Logic — 3-Report Threshold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9471441" y="5010255"/>
            <a:ext cx="2608040" cy="2127600"/>
          </a:xfrm>
          <a:custGeom>
            <a:rect b="b" l="l" r="r" t="t"/>
            <a:pathLst>
              <a:path extrusionOk="0" h="2836799" w="3477387">
                <a:moveTo>
                  <a:pt x="0" y="0"/>
                </a:moveTo>
                <a:lnTo>
                  <a:pt x="3477387" y="0"/>
                </a:lnTo>
                <a:lnTo>
                  <a:pt x="3477387" y="2836799"/>
                </a:lnTo>
                <a:lnTo>
                  <a:pt x="0" y="2836799"/>
                </a:lnTo>
                <a:close/>
              </a:path>
            </a:pathLst>
          </a:custGeom>
          <a:solidFill>
            <a:srgbClr val="6B7B74"/>
          </a:solidFill>
          <a:ln>
            <a:noFill/>
          </a:ln>
        </p:spPr>
      </p:sp>
      <p:sp>
        <p:nvSpPr>
          <p:cNvPr id="198" name="Google Shape;198;p4"/>
          <p:cNvSpPr txBox="1"/>
          <p:nvPr/>
        </p:nvSpPr>
        <p:spPr>
          <a:xfrm>
            <a:off x="9700146" y="5193240"/>
            <a:ext cx="2150659" cy="45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  Report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9700146" y="5810945"/>
            <a:ext cx="2150659" cy="114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Logged, no action taken</a:t>
            </a:r>
            <a:endParaRPr/>
          </a:p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Driver not notified</a:t>
            </a:r>
            <a:endParaRPr/>
          </a:p>
        </p:txBody>
      </p:sp>
      <p:cxnSp>
        <p:nvCxnSpPr>
          <p:cNvPr id="200" name="Google Shape;200;p4"/>
          <p:cNvCxnSpPr/>
          <p:nvPr/>
        </p:nvCxnSpPr>
        <p:spPr>
          <a:xfrm rot="532860">
            <a:off x="12058974" y="6057690"/>
            <a:ext cx="246993" cy="0"/>
          </a:xfrm>
          <a:prstGeom prst="straightConnector1">
            <a:avLst/>
          </a:prstGeom>
          <a:noFill/>
          <a:ln cap="rnd" cmpd="sng" w="19050">
            <a:solidFill>
              <a:srgbClr val="F5E6C8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01" name="Google Shape;201;p4"/>
          <p:cNvSpPr/>
          <p:nvPr/>
        </p:nvSpPr>
        <p:spPr>
          <a:xfrm>
            <a:off x="12285421" y="5010255"/>
            <a:ext cx="2608040" cy="2127600"/>
          </a:xfrm>
          <a:custGeom>
            <a:rect b="b" l="l" r="r" t="t"/>
            <a:pathLst>
              <a:path extrusionOk="0" h="2836799" w="3477387">
                <a:moveTo>
                  <a:pt x="0" y="0"/>
                </a:moveTo>
                <a:lnTo>
                  <a:pt x="3477387" y="0"/>
                </a:lnTo>
                <a:lnTo>
                  <a:pt x="3477387" y="2836799"/>
                </a:lnTo>
                <a:lnTo>
                  <a:pt x="0" y="2836799"/>
                </a:lnTo>
                <a:close/>
              </a:path>
            </a:pathLst>
          </a:custGeom>
          <a:solidFill>
            <a:srgbClr val="2E7A60"/>
          </a:solidFill>
          <a:ln>
            <a:noFill/>
          </a:ln>
        </p:spPr>
      </p:sp>
      <p:sp>
        <p:nvSpPr>
          <p:cNvPr id="202" name="Google Shape;202;p4"/>
          <p:cNvSpPr txBox="1"/>
          <p:nvPr/>
        </p:nvSpPr>
        <p:spPr>
          <a:xfrm>
            <a:off x="12514126" y="5193240"/>
            <a:ext cx="2150659" cy="45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2  Reports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12514126" y="5810945"/>
            <a:ext cx="2150659" cy="114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Internal flag added</a:t>
            </a:r>
            <a:endParaRPr/>
          </a:p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Still below threshold</a:t>
            </a:r>
            <a:endParaRPr/>
          </a:p>
        </p:txBody>
      </p:sp>
      <p:cxnSp>
        <p:nvCxnSpPr>
          <p:cNvPr id="204" name="Google Shape;204;p4"/>
          <p:cNvCxnSpPr/>
          <p:nvPr/>
        </p:nvCxnSpPr>
        <p:spPr>
          <a:xfrm rot="532860">
            <a:off x="14872945" y="6057690"/>
            <a:ext cx="246993" cy="0"/>
          </a:xfrm>
          <a:prstGeom prst="straightConnector1">
            <a:avLst/>
          </a:prstGeom>
          <a:noFill/>
          <a:ln cap="rnd" cmpd="sng" w="19050">
            <a:solidFill>
              <a:srgbClr val="F5E6C8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05" name="Google Shape;205;p4"/>
          <p:cNvSpPr/>
          <p:nvPr/>
        </p:nvSpPr>
        <p:spPr>
          <a:xfrm>
            <a:off x="15099392" y="5010255"/>
            <a:ext cx="2608040" cy="2127600"/>
          </a:xfrm>
          <a:custGeom>
            <a:rect b="b" l="l" r="r" t="t"/>
            <a:pathLst>
              <a:path extrusionOk="0" h="2836799" w="3477387">
                <a:moveTo>
                  <a:pt x="0" y="0"/>
                </a:moveTo>
                <a:lnTo>
                  <a:pt x="3477387" y="0"/>
                </a:lnTo>
                <a:lnTo>
                  <a:pt x="3477387" y="2836799"/>
                </a:lnTo>
                <a:lnTo>
                  <a:pt x="0" y="2836799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206" name="Google Shape;206;p4"/>
          <p:cNvSpPr txBox="1"/>
          <p:nvPr/>
        </p:nvSpPr>
        <p:spPr>
          <a:xfrm>
            <a:off x="15328097" y="5193240"/>
            <a:ext cx="2150659" cy="45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3  Reports</a:t>
            </a:r>
            <a:endParaRPr/>
          </a:p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(within 30 days)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15328097" y="5810945"/>
            <a:ext cx="2150659" cy="114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AUTO-TRIGGER:</a:t>
            </a:r>
            <a:endParaRPr/>
          </a:p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LGU Admin Review + TODA Alert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9562881" y="7458151"/>
            <a:ext cx="8053159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2E866E"/>
                </a:solidFill>
                <a:latin typeface="Lato"/>
                <a:ea typeface="Lato"/>
                <a:cs typeface="Lato"/>
                <a:sym typeface="Lato"/>
              </a:rPr>
              <a:t>Anti-Abuse: OTP via SMS + GPS Geofencing (Roxas City boundary only)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9562881" y="8075857"/>
            <a:ext cx="8053159" cy="1281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Reports require SMS OTP verification. GPS must match within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Roxas City boundaries — blocking remote/automated spam.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A single report never penalizes a driver; only the aggregate pattern triggers review.</a:t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216" name="Google Shape;216;p6"/>
          <p:cNvSpPr/>
          <p:nvPr/>
        </p:nvSpPr>
        <p:spPr>
          <a:xfrm>
            <a:off x="0" y="0"/>
            <a:ext cx="18297715" cy="892207"/>
          </a:xfrm>
          <a:custGeom>
            <a:rect b="b" l="l" r="r" t="t"/>
            <a:pathLst>
              <a:path extrusionOk="0" h="1189609" w="24396954">
                <a:moveTo>
                  <a:pt x="0" y="0"/>
                </a:moveTo>
                <a:lnTo>
                  <a:pt x="24396954" y="0"/>
                </a:lnTo>
                <a:lnTo>
                  <a:pt x="24396954" y="1189609"/>
                </a:lnTo>
                <a:lnTo>
                  <a:pt x="0" y="1189609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217" name="Google Shape;217;p6"/>
          <p:cNvSpPr txBox="1"/>
          <p:nvPr/>
        </p:nvSpPr>
        <p:spPr>
          <a:xfrm>
            <a:off x="640509" y="182985"/>
            <a:ext cx="16289188" cy="567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BalayCapiz — Filter Flow Architecture  ·  Direct-Contact Workflow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34772" y="1111291"/>
            <a:ext cx="6892004" cy="2773966"/>
          </a:xfrm>
          <a:custGeom>
            <a:rect b="b" l="l" r="r" t="t"/>
            <a:pathLst>
              <a:path extrusionOk="0" h="3698621" w="9189339">
                <a:moveTo>
                  <a:pt x="0" y="0"/>
                </a:moveTo>
                <a:lnTo>
                  <a:pt x="9189339" y="0"/>
                </a:lnTo>
                <a:lnTo>
                  <a:pt x="9189339" y="3698621"/>
                </a:lnTo>
                <a:lnTo>
                  <a:pt x="0" y="3698621"/>
                </a:lnTo>
                <a:close/>
              </a:path>
            </a:pathLst>
          </a:custGeom>
          <a:solidFill>
            <a:srgbClr val="1E4A40"/>
          </a:solidFill>
          <a:ln cap="sq" cmpd="sng" w="28575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9" name="Google Shape;219;p6"/>
          <p:cNvSpPr txBox="1"/>
          <p:nvPr/>
        </p:nvSpPr>
        <p:spPr>
          <a:xfrm>
            <a:off x="846411" y="1281122"/>
            <a:ext cx="6268679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2E866E"/>
                </a:solidFill>
                <a:latin typeface="Roboto Mono"/>
                <a:ea typeface="Roboto Mono"/>
                <a:cs typeface="Roboto Mono"/>
                <a:sym typeface="Roboto Mono"/>
              </a:rPr>
              <a:t>[ Student Filter Criteria ]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846411" y="1830191"/>
            <a:ext cx="6268679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1. Proximity   : &lt; 500 m from Hercor Lawaan Gate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846411" y="2283181"/>
            <a:ext cx="6268679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2. Utilities   : CAPELCO Standard Rate verified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846411" y="2736161"/>
            <a:ext cx="6268679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3. Safety      : BFP Fire Clearance uploaded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846411" y="3189141"/>
            <a:ext cx="6268679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4. Environment : Flood-Free History verified</a:t>
            </a:r>
            <a:endParaRPr/>
          </a:p>
        </p:txBody>
      </p:sp>
      <p:cxnSp>
        <p:nvCxnSpPr>
          <p:cNvPr id="224" name="Google Shape;224;p6"/>
          <p:cNvCxnSpPr/>
          <p:nvPr/>
        </p:nvCxnSpPr>
        <p:spPr>
          <a:xfrm rot="5098380">
            <a:off x="3708787" y="4103732"/>
            <a:ext cx="543916" cy="0"/>
          </a:xfrm>
          <a:prstGeom prst="straightConnector1">
            <a:avLst/>
          </a:prstGeom>
          <a:noFill/>
          <a:ln cap="rnd" cmpd="sng" w="28575">
            <a:solidFill>
              <a:srgbClr val="D95B37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25" name="Google Shape;225;p6"/>
          <p:cNvSpPr/>
          <p:nvPr/>
        </p:nvSpPr>
        <p:spPr>
          <a:xfrm>
            <a:off x="534772" y="4350801"/>
            <a:ext cx="6892004" cy="2224850"/>
          </a:xfrm>
          <a:custGeom>
            <a:rect b="b" l="l" r="r" t="t"/>
            <a:pathLst>
              <a:path extrusionOk="0" h="2966466" w="9189339">
                <a:moveTo>
                  <a:pt x="0" y="0"/>
                </a:moveTo>
                <a:lnTo>
                  <a:pt x="9189339" y="0"/>
                </a:lnTo>
                <a:lnTo>
                  <a:pt x="9189339" y="2966466"/>
                </a:lnTo>
                <a:lnTo>
                  <a:pt x="0" y="2966466"/>
                </a:lnTo>
                <a:close/>
              </a:path>
            </a:pathLst>
          </a:custGeom>
          <a:solidFill>
            <a:srgbClr val="0E1E1A"/>
          </a:solidFill>
          <a:ln cap="sq" cmpd="sng" w="28575">
            <a:solidFill>
              <a:srgbClr val="D95B37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6" name="Google Shape;226;p6"/>
          <p:cNvSpPr txBox="1"/>
          <p:nvPr/>
        </p:nvSpPr>
        <p:spPr>
          <a:xfrm>
            <a:off x="846411" y="4520632"/>
            <a:ext cx="6268679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1" u="none" cap="none" strike="noStrike">
                <a:solidFill>
                  <a:srgbClr val="D95B37"/>
                </a:solidFill>
                <a:latin typeface="Roboto Mono"/>
                <a:ea typeface="Roboto Mono"/>
                <a:cs typeface="Roboto Mono"/>
                <a:sym typeface="Roboto Mono"/>
              </a:rPr>
              <a:t>[ Verified Matching Listings ]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846411" y="5055975"/>
            <a:ext cx="6268679" cy="1281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LAWAAN STUDENT HAVEN</a:t>
            </a:r>
            <a:endParaRPr/>
          </a:p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Php 2,200/month (Water Included)</a:t>
            </a:r>
            <a:endParaRPr/>
          </a:p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Distance: 350 m · CAPELCO Verified · Flood Risk: Low</a:t>
            </a:r>
            <a:endParaRPr/>
          </a:p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BFP: Cleared ·  ★★★★☆ (14 Student Reviews)</a:t>
            </a:r>
            <a:endParaRPr/>
          </a:p>
        </p:txBody>
      </p:sp>
      <p:cxnSp>
        <p:nvCxnSpPr>
          <p:cNvPr id="228" name="Google Shape;228;p6"/>
          <p:cNvCxnSpPr/>
          <p:nvPr/>
        </p:nvCxnSpPr>
        <p:spPr>
          <a:xfrm rot="5082360">
            <a:off x="3722465" y="6780438"/>
            <a:ext cx="516579" cy="0"/>
          </a:xfrm>
          <a:prstGeom prst="straightConnector1">
            <a:avLst/>
          </a:prstGeom>
          <a:noFill/>
          <a:ln cap="rnd" cmpd="sng" w="28575">
            <a:solidFill>
              <a:srgbClr val="D95B37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29" name="Google Shape;229;p6"/>
          <p:cNvSpPr/>
          <p:nvPr/>
        </p:nvSpPr>
        <p:spPr>
          <a:xfrm>
            <a:off x="549069" y="7028078"/>
            <a:ext cx="2127600" cy="754952"/>
          </a:xfrm>
          <a:custGeom>
            <a:rect b="b" l="l" r="r" t="t"/>
            <a:pathLst>
              <a:path extrusionOk="0" h="1006602" w="2836799">
                <a:moveTo>
                  <a:pt x="0" y="0"/>
                </a:moveTo>
                <a:lnTo>
                  <a:pt x="2836799" y="0"/>
                </a:lnTo>
                <a:lnTo>
                  <a:pt x="2836799" y="1006602"/>
                </a:lnTo>
                <a:lnTo>
                  <a:pt x="0" y="1006602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230" name="Google Shape;230;p6"/>
          <p:cNvSpPr txBox="1"/>
          <p:nvPr/>
        </p:nvSpPr>
        <p:spPr>
          <a:xfrm>
            <a:off x="750322" y="7156161"/>
            <a:ext cx="1738865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[ Call Landlord ]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750322" y="7513053"/>
            <a:ext cx="1738865" cy="21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tel: protocol — native dialer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2882608" y="7028078"/>
            <a:ext cx="2127600" cy="754952"/>
          </a:xfrm>
          <a:custGeom>
            <a:rect b="b" l="l" r="r" t="t"/>
            <a:pathLst>
              <a:path extrusionOk="0" h="1006602" w="2836799">
                <a:moveTo>
                  <a:pt x="0" y="0"/>
                </a:moveTo>
                <a:lnTo>
                  <a:pt x="2836799" y="0"/>
                </a:lnTo>
                <a:lnTo>
                  <a:pt x="2836799" y="1006602"/>
                </a:lnTo>
                <a:lnTo>
                  <a:pt x="0" y="1006602"/>
                </a:lnTo>
                <a:close/>
              </a:path>
            </a:pathLst>
          </a:custGeom>
          <a:solidFill>
            <a:srgbClr val="2E7A60"/>
          </a:solidFill>
          <a:ln>
            <a:noFill/>
          </a:ln>
        </p:spPr>
      </p:sp>
      <p:sp>
        <p:nvSpPr>
          <p:cNvPr id="233" name="Google Shape;233;p6"/>
          <p:cNvSpPr txBox="1"/>
          <p:nvPr/>
        </p:nvSpPr>
        <p:spPr>
          <a:xfrm>
            <a:off x="3083862" y="7156161"/>
            <a:ext cx="1738865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[ SMS Landlord ]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3083862" y="7513053"/>
            <a:ext cx="1738865" cy="21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sms: protocol — native Messages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5216157" y="7028078"/>
            <a:ext cx="2127600" cy="754952"/>
          </a:xfrm>
          <a:custGeom>
            <a:rect b="b" l="l" r="r" t="t"/>
            <a:pathLst>
              <a:path extrusionOk="0" h="1006602" w="2836799">
                <a:moveTo>
                  <a:pt x="0" y="0"/>
                </a:moveTo>
                <a:lnTo>
                  <a:pt x="2836799" y="0"/>
                </a:lnTo>
                <a:lnTo>
                  <a:pt x="2836799" y="1006602"/>
                </a:lnTo>
                <a:lnTo>
                  <a:pt x="0" y="1006602"/>
                </a:lnTo>
                <a:close/>
              </a:path>
            </a:pathLst>
          </a:custGeom>
          <a:solidFill>
            <a:srgbClr val="6B7B74"/>
          </a:solidFill>
          <a:ln>
            <a:noFill/>
          </a:ln>
        </p:spPr>
      </p:sp>
      <p:sp>
        <p:nvSpPr>
          <p:cNvPr id="236" name="Google Shape;236;p6"/>
          <p:cNvSpPr txBox="1"/>
          <p:nvPr/>
        </p:nvSpPr>
        <p:spPr>
          <a:xfrm>
            <a:off x="5417410" y="7156161"/>
            <a:ext cx="1738865" cy="29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[ View on Map ]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5417410" y="7513053"/>
            <a:ext cx="1738865" cy="21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Leaflet.js pin → OpenStreetMap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961500" y="1029500"/>
            <a:ext cx="82392" cy="8922353"/>
          </a:xfrm>
          <a:custGeom>
            <a:rect b="b" l="l" r="r" t="t"/>
            <a:pathLst>
              <a:path extrusionOk="0" h="11896471" w="109855">
                <a:moveTo>
                  <a:pt x="0" y="0"/>
                </a:moveTo>
                <a:lnTo>
                  <a:pt x="109855" y="0"/>
                </a:lnTo>
                <a:lnTo>
                  <a:pt x="109855" y="11896471"/>
                </a:lnTo>
                <a:lnTo>
                  <a:pt x="0" y="11896471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239" name="Google Shape;239;p6"/>
          <p:cNvSpPr txBox="1"/>
          <p:nvPr/>
        </p:nvSpPr>
        <p:spPr>
          <a:xfrm>
            <a:off x="8602008" y="1171308"/>
            <a:ext cx="9219924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1" u="none" cap="none" strike="noStrike">
                <a:solidFill>
                  <a:srgbClr val="F5E6C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Architecture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8501034" y="1774946"/>
            <a:ext cx="4137089" cy="1117187"/>
          </a:xfrm>
          <a:custGeom>
            <a:rect b="b" l="l" r="r" t="t"/>
            <a:pathLst>
              <a:path extrusionOk="0" h="1489583" w="5516118">
                <a:moveTo>
                  <a:pt x="0" y="0"/>
                </a:moveTo>
                <a:lnTo>
                  <a:pt x="5516118" y="0"/>
                </a:lnTo>
                <a:lnTo>
                  <a:pt x="5516118" y="1489583"/>
                </a:lnTo>
                <a:lnTo>
                  <a:pt x="0" y="1489583"/>
                </a:lnTo>
                <a:close/>
              </a:path>
            </a:pathLst>
          </a:custGeom>
          <a:solidFill>
            <a:srgbClr val="2E866E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1" name="Google Shape;241;p6"/>
          <p:cNvSpPr txBox="1"/>
          <p:nvPr/>
        </p:nvSpPr>
        <p:spPr>
          <a:xfrm>
            <a:off x="8766734" y="1930479"/>
            <a:ext cx="3660600" cy="3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Mobile Web Frontend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8766734" y="2379259"/>
            <a:ext cx="3660600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HTML / Tailwind CSS / React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8501034" y="3353514"/>
            <a:ext cx="4137089" cy="1185863"/>
          </a:xfrm>
          <a:custGeom>
            <a:rect b="b" l="l" r="r" t="t"/>
            <a:pathLst>
              <a:path extrusionOk="0" h="1581150" w="5516118">
                <a:moveTo>
                  <a:pt x="0" y="0"/>
                </a:moveTo>
                <a:lnTo>
                  <a:pt x="5516118" y="0"/>
                </a:lnTo>
                <a:lnTo>
                  <a:pt x="5516118" y="1581150"/>
                </a:lnTo>
                <a:lnTo>
                  <a:pt x="0" y="1581150"/>
                </a:lnTo>
                <a:close/>
              </a:path>
            </a:pathLst>
          </a:custGeom>
          <a:solidFill>
            <a:srgbClr val="1E4A40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4" name="Google Shape;244;p6"/>
          <p:cNvSpPr txBox="1"/>
          <p:nvPr/>
        </p:nvSpPr>
        <p:spPr>
          <a:xfrm>
            <a:off x="8766734" y="3509058"/>
            <a:ext cx="3660600" cy="3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Leaflet.js + OpenStreetMap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8766734" y="3957838"/>
            <a:ext cx="3660600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Campus boundary overlay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Property map pins</a:t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13099485" y="1774946"/>
            <a:ext cx="4823460" cy="1117187"/>
          </a:xfrm>
          <a:custGeom>
            <a:rect b="b" l="l" r="r" t="t"/>
            <a:pathLst>
              <a:path extrusionOk="0" h="1489583" w="6431280">
                <a:moveTo>
                  <a:pt x="0" y="0"/>
                </a:moveTo>
                <a:lnTo>
                  <a:pt x="6431280" y="0"/>
                </a:lnTo>
                <a:lnTo>
                  <a:pt x="6431280" y="1489583"/>
                </a:lnTo>
                <a:lnTo>
                  <a:pt x="0" y="1489583"/>
                </a:lnTo>
                <a:close/>
              </a:path>
            </a:pathLst>
          </a:custGeom>
          <a:solidFill>
            <a:srgbClr val="1E4A40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7" name="Google Shape;247;p6"/>
          <p:cNvSpPr txBox="1"/>
          <p:nvPr/>
        </p:nvSpPr>
        <p:spPr>
          <a:xfrm>
            <a:off x="13365185" y="1930479"/>
            <a:ext cx="4346943" cy="3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Supabase DB + File Storage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13365185" y="2379259"/>
            <a:ext cx="4346943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Free-tier cloud database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Property photos &amp; Student ID</a:t>
            </a:r>
            <a:endParaRPr/>
          </a:p>
        </p:txBody>
      </p:sp>
      <p:cxnSp>
        <p:nvCxnSpPr>
          <p:cNvPr id="249" name="Google Shape;249;p6"/>
          <p:cNvCxnSpPr/>
          <p:nvPr/>
        </p:nvCxnSpPr>
        <p:spPr>
          <a:xfrm rot="5147700">
            <a:off x="10309593" y="3113303"/>
            <a:ext cx="519970" cy="0"/>
          </a:xfrm>
          <a:prstGeom prst="straightConnector1">
            <a:avLst/>
          </a:prstGeom>
          <a:noFill/>
          <a:ln cap="rnd" cmpd="sng" w="19050">
            <a:solidFill>
              <a:srgbClr val="D95B37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50" name="Google Shape;250;p6"/>
          <p:cNvCxnSpPr/>
          <p:nvPr/>
        </p:nvCxnSpPr>
        <p:spPr>
          <a:xfrm rot="252300">
            <a:off x="12608824" y="2324014"/>
            <a:ext cx="519970" cy="0"/>
          </a:xfrm>
          <a:prstGeom prst="straightConnector1">
            <a:avLst/>
          </a:prstGeom>
          <a:noFill/>
          <a:ln cap="rnd" cmpd="sng" w="19050">
            <a:solidFill>
              <a:srgbClr val="D95B37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51" name="Google Shape;251;p6"/>
          <p:cNvCxnSpPr/>
          <p:nvPr/>
        </p:nvCxnSpPr>
        <p:spPr>
          <a:xfrm rot="5219220">
            <a:off x="9976409" y="4696644"/>
            <a:ext cx="362731" cy="0"/>
          </a:xfrm>
          <a:prstGeom prst="straightConnector1">
            <a:avLst/>
          </a:prstGeom>
          <a:noFill/>
          <a:ln cap="rnd" cmpd="sng" w="9525">
            <a:solidFill>
              <a:srgbClr val="6B7B74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52" name="Google Shape;252;p6"/>
          <p:cNvSpPr/>
          <p:nvPr/>
        </p:nvSpPr>
        <p:spPr>
          <a:xfrm>
            <a:off x="8501034" y="4863455"/>
            <a:ext cx="3107532" cy="1460373"/>
          </a:xfrm>
          <a:custGeom>
            <a:rect b="b" l="l" r="r" t="t"/>
            <a:pathLst>
              <a:path extrusionOk="0" h="1947164" w="4143375">
                <a:moveTo>
                  <a:pt x="0" y="0"/>
                </a:moveTo>
                <a:lnTo>
                  <a:pt x="4143375" y="0"/>
                </a:lnTo>
                <a:lnTo>
                  <a:pt x="4143375" y="1947164"/>
                </a:lnTo>
                <a:lnTo>
                  <a:pt x="0" y="1947164"/>
                </a:lnTo>
                <a:close/>
              </a:path>
            </a:pathLst>
          </a:custGeom>
          <a:solidFill>
            <a:srgbClr val="0A1814"/>
          </a:solidFill>
          <a:ln cap="sq" cmpd="sng" w="19050">
            <a:solidFill>
              <a:srgbClr val="6B7B7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53" name="Google Shape;253;p6"/>
          <p:cNvSpPr txBox="1"/>
          <p:nvPr/>
        </p:nvSpPr>
        <p:spPr>
          <a:xfrm>
            <a:off x="8739273" y="4987338"/>
            <a:ext cx="2562463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E866E"/>
                </a:solidFill>
                <a:latin typeface="Roboto Mono"/>
                <a:ea typeface="Roboto Mono"/>
                <a:cs typeface="Roboto Mono"/>
                <a:sym typeface="Roboto Mono"/>
              </a:rPr>
              <a:t>DB Table: Listings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8739273" y="5399141"/>
            <a:ext cx="2562463" cy="800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listing_id, property_name, monthly_rent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target_campus, distance_meters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is_capelco_standard, flood_risk_level</a:t>
            </a:r>
            <a:endParaRPr/>
          </a:p>
        </p:txBody>
      </p:sp>
      <p:cxnSp>
        <p:nvCxnSpPr>
          <p:cNvPr id="255" name="Google Shape;255;p6"/>
          <p:cNvCxnSpPr/>
          <p:nvPr/>
        </p:nvCxnSpPr>
        <p:spPr>
          <a:xfrm rot="5219220">
            <a:off x="13298272" y="4696644"/>
            <a:ext cx="362731" cy="0"/>
          </a:xfrm>
          <a:prstGeom prst="straightConnector1">
            <a:avLst/>
          </a:prstGeom>
          <a:noFill/>
          <a:ln cap="rnd" cmpd="sng" w="9525">
            <a:solidFill>
              <a:srgbClr val="6B7B74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56" name="Google Shape;256;p6"/>
          <p:cNvSpPr/>
          <p:nvPr/>
        </p:nvSpPr>
        <p:spPr>
          <a:xfrm>
            <a:off x="11822906" y="4863455"/>
            <a:ext cx="3107532" cy="1460373"/>
          </a:xfrm>
          <a:custGeom>
            <a:rect b="b" l="l" r="r" t="t"/>
            <a:pathLst>
              <a:path extrusionOk="0" h="1947164" w="4143375">
                <a:moveTo>
                  <a:pt x="0" y="0"/>
                </a:moveTo>
                <a:lnTo>
                  <a:pt x="4143375" y="0"/>
                </a:lnTo>
                <a:lnTo>
                  <a:pt x="4143375" y="1947164"/>
                </a:lnTo>
                <a:lnTo>
                  <a:pt x="0" y="1947164"/>
                </a:lnTo>
                <a:close/>
              </a:path>
            </a:pathLst>
          </a:custGeom>
          <a:solidFill>
            <a:srgbClr val="0A1814"/>
          </a:solidFill>
          <a:ln cap="sq" cmpd="sng" w="19050">
            <a:solidFill>
              <a:srgbClr val="6B7B7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57" name="Google Shape;257;p6"/>
          <p:cNvSpPr txBox="1"/>
          <p:nvPr/>
        </p:nvSpPr>
        <p:spPr>
          <a:xfrm>
            <a:off x="12061146" y="4987338"/>
            <a:ext cx="2562463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E866E"/>
                </a:solidFill>
                <a:latin typeface="Roboto Mono"/>
                <a:ea typeface="Roboto Mono"/>
                <a:cs typeface="Roboto Mono"/>
                <a:sym typeface="Roboto Mono"/>
              </a:rPr>
              <a:t>DB Table: Student_Reviews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12061146" y="5399141"/>
            <a:ext cx="2562463" cy="800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review_id, listing_id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rating_stars, review_text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verified_student_id_url</a:t>
            </a:r>
            <a:endParaRPr/>
          </a:p>
        </p:txBody>
      </p:sp>
      <p:cxnSp>
        <p:nvCxnSpPr>
          <p:cNvPr id="259" name="Google Shape;259;p6"/>
          <p:cNvCxnSpPr/>
          <p:nvPr/>
        </p:nvCxnSpPr>
        <p:spPr>
          <a:xfrm rot="5219220">
            <a:off x="16620144" y="4696644"/>
            <a:ext cx="362731" cy="0"/>
          </a:xfrm>
          <a:prstGeom prst="straightConnector1">
            <a:avLst/>
          </a:prstGeom>
          <a:noFill/>
          <a:ln cap="rnd" cmpd="sng" w="9525">
            <a:solidFill>
              <a:srgbClr val="6B7B74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60" name="Google Shape;260;p6"/>
          <p:cNvSpPr/>
          <p:nvPr/>
        </p:nvSpPr>
        <p:spPr>
          <a:xfrm>
            <a:off x="15144769" y="4863455"/>
            <a:ext cx="3107532" cy="1460373"/>
          </a:xfrm>
          <a:custGeom>
            <a:rect b="b" l="l" r="r" t="t"/>
            <a:pathLst>
              <a:path extrusionOk="0" h="1947164" w="4143375">
                <a:moveTo>
                  <a:pt x="0" y="0"/>
                </a:moveTo>
                <a:lnTo>
                  <a:pt x="4143375" y="0"/>
                </a:lnTo>
                <a:lnTo>
                  <a:pt x="4143375" y="1947164"/>
                </a:lnTo>
                <a:lnTo>
                  <a:pt x="0" y="1947164"/>
                </a:lnTo>
                <a:close/>
              </a:path>
            </a:pathLst>
          </a:custGeom>
          <a:solidFill>
            <a:srgbClr val="0A1814"/>
          </a:solidFill>
          <a:ln cap="sq" cmpd="sng" w="19050">
            <a:solidFill>
              <a:srgbClr val="6B7B7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61" name="Google Shape;261;p6"/>
          <p:cNvSpPr txBox="1"/>
          <p:nvPr/>
        </p:nvSpPr>
        <p:spPr>
          <a:xfrm>
            <a:off x="15383008" y="4987338"/>
            <a:ext cx="2562463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E866E"/>
                </a:solidFill>
                <a:latin typeface="Roboto Mono"/>
                <a:ea typeface="Roboto Mono"/>
                <a:cs typeface="Roboto Mono"/>
                <a:sym typeface="Roboto Mono"/>
              </a:rPr>
              <a:t>Storage Bucket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15383008" y="5399141"/>
            <a:ext cx="2562463" cy="800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Property photos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B74"/>
                </a:solidFill>
                <a:latin typeface="Roboto Mono"/>
                <a:ea typeface="Roboto Mono"/>
                <a:cs typeface="Roboto Mono"/>
                <a:sym typeface="Roboto Mono"/>
              </a:rPr>
              <a:t>Student ID cards for review verification</a:t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8510568" y="6657461"/>
            <a:ext cx="9402794" cy="1166812"/>
          </a:xfrm>
          <a:custGeom>
            <a:rect b="b" l="l" r="r" t="t"/>
            <a:pathLst>
              <a:path extrusionOk="0" h="1555750" w="12537059">
                <a:moveTo>
                  <a:pt x="0" y="0"/>
                </a:moveTo>
                <a:lnTo>
                  <a:pt x="12537059" y="0"/>
                </a:lnTo>
                <a:lnTo>
                  <a:pt x="12537059" y="1555750"/>
                </a:lnTo>
                <a:lnTo>
                  <a:pt x="0" y="1555750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264" name="Google Shape;264;p6"/>
          <p:cNvSpPr txBox="1"/>
          <p:nvPr/>
        </p:nvSpPr>
        <p:spPr>
          <a:xfrm>
            <a:off x="8807910" y="6799269"/>
            <a:ext cx="8876757" cy="86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One-Tap Contact: tel: &amp; sms: protocols trigger the phone's</a:t>
            </a:r>
            <a:endParaRPr/>
          </a:p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native dialer/Messages — no in-app messaging server required.</a:t>
            </a:r>
            <a:endParaRPr/>
          </a:p>
        </p:txBody>
      </p:sp>
      <p:sp>
        <p:nvSpPr>
          <p:cNvPr id="265" name="Google Shape;265;p6"/>
          <p:cNvSpPr txBox="1"/>
          <p:nvPr/>
        </p:nvSpPr>
        <p:spPr>
          <a:xfrm>
            <a:off x="8602008" y="8034671"/>
            <a:ext cx="9219924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6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Lightweight web app — no App Store download. Works on any basic smartphone browser.</a:t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AF7F2"/>
          </a:solidFill>
          <a:ln>
            <a:noFill/>
          </a:ln>
        </p:spPr>
      </p:sp>
      <p:sp>
        <p:nvSpPr>
          <p:cNvPr id="272" name="Google Shape;272;p5"/>
          <p:cNvSpPr/>
          <p:nvPr/>
        </p:nvSpPr>
        <p:spPr>
          <a:xfrm>
            <a:off x="0" y="0"/>
            <a:ext cx="18297715" cy="1509903"/>
          </a:xfrm>
          <a:custGeom>
            <a:rect b="b" l="l" r="r" t="t"/>
            <a:pathLst>
              <a:path extrusionOk="0" h="2013204" w="24396954">
                <a:moveTo>
                  <a:pt x="0" y="0"/>
                </a:moveTo>
                <a:lnTo>
                  <a:pt x="24396954" y="0"/>
                </a:lnTo>
                <a:lnTo>
                  <a:pt x="24396954" y="2013204"/>
                </a:lnTo>
                <a:lnTo>
                  <a:pt x="0" y="2013204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273" name="Google Shape;273;p5"/>
          <p:cNvSpPr txBox="1"/>
          <p:nvPr/>
        </p:nvSpPr>
        <p:spPr>
          <a:xfrm>
            <a:off x="640509" y="200920"/>
            <a:ext cx="6680483" cy="439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D95B37"/>
                </a:solidFill>
                <a:latin typeface="Lato"/>
                <a:ea typeface="Lato"/>
                <a:cs typeface="Lato"/>
                <a:sym typeface="Lato"/>
              </a:rPr>
              <a:t>PROPOSAL 2</a:t>
            </a:r>
            <a:endParaRPr/>
          </a:p>
        </p:txBody>
      </p:sp>
      <p:sp>
        <p:nvSpPr>
          <p:cNvPr id="274" name="Google Shape;274;p5"/>
          <p:cNvSpPr txBox="1"/>
          <p:nvPr/>
        </p:nvSpPr>
        <p:spPr>
          <a:xfrm>
            <a:off x="640509" y="663426"/>
            <a:ext cx="13543845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BalayCapiz — Verified Student Housing &amp; Safety Portal, Roxas City</a:t>
            </a:r>
            <a:endParaRPr/>
          </a:p>
        </p:txBody>
      </p:sp>
      <p:sp>
        <p:nvSpPr>
          <p:cNvPr id="275" name="Google Shape;275;p5"/>
          <p:cNvSpPr txBox="1"/>
          <p:nvPr/>
        </p:nvSpPr>
        <p:spPr>
          <a:xfrm>
            <a:off x="640509" y="1761563"/>
            <a:ext cx="791588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D95B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Problem</a:t>
            </a:r>
            <a:endParaRPr/>
          </a:p>
        </p:txBody>
      </p:sp>
      <p:sp>
        <p:nvSpPr>
          <p:cNvPr id="276" name="Google Shape;276;p5"/>
          <p:cNvSpPr txBox="1"/>
          <p:nvPr/>
        </p:nvSpPr>
        <p:spPr>
          <a:xfrm>
            <a:off x="640509" y="2379259"/>
            <a:ext cx="7915885" cy="2585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Hundreds of students arrive annually from Tapaz, Dumarao, and Jamindan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to study at Hercor Lawaan, CapSU Main, and Filamer Christian University.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6" u="none" cap="none" strike="noStrike">
              <a:solidFill>
                <a:srgbClr val="1C3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Their only tools: walking streets in August heat, or scrolling Facebook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groups filled with incomplete listings — no prices, no safety disclosures,</a:t>
            </a:r>
            <a:endParaRPr/>
          </a:p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no way to verify what they're renting before signing a receipt.</a:t>
            </a:r>
            <a:endParaRPr/>
          </a:p>
        </p:txBody>
      </p:sp>
      <p:sp>
        <p:nvSpPr>
          <p:cNvPr id="277" name="Google Shape;277;p5"/>
          <p:cNvSpPr txBox="1"/>
          <p:nvPr/>
        </p:nvSpPr>
        <p:spPr>
          <a:xfrm>
            <a:off x="640509" y="5234426"/>
            <a:ext cx="791588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1C3A3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Gets Hidden in Listings</a:t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549069" y="5833853"/>
            <a:ext cx="109824" cy="713804"/>
          </a:xfrm>
          <a:custGeom>
            <a:rect b="b" l="l" r="r" t="t"/>
            <a:pathLst>
              <a:path extrusionOk="0" h="951738" w="146431">
                <a:moveTo>
                  <a:pt x="0" y="0"/>
                </a:moveTo>
                <a:lnTo>
                  <a:pt x="146431" y="0"/>
                </a:lnTo>
                <a:lnTo>
                  <a:pt x="146431" y="951738"/>
                </a:lnTo>
                <a:lnTo>
                  <a:pt x="0" y="951738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279" name="Google Shape;279;p5"/>
          <p:cNvSpPr txBox="1"/>
          <p:nvPr/>
        </p:nvSpPr>
        <p:spPr>
          <a:xfrm>
            <a:off x="942499" y="5907034"/>
            <a:ext cx="1876130" cy="251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Sub-Meter Markup</a:t>
            </a:r>
            <a:endParaRPr/>
          </a:p>
        </p:txBody>
      </p:sp>
      <p:sp>
        <p:nvSpPr>
          <p:cNvPr id="280" name="Google Shape;280;p5"/>
          <p:cNvSpPr txBox="1"/>
          <p:nvPr/>
        </p:nvSpPr>
        <p:spPr>
          <a:xfrm>
            <a:off x="942499" y="6240675"/>
            <a:ext cx="7366816" cy="30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₱20–₱25/kWh charged vs. CAPELCO residential ~₱11/kWh</a:t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549069" y="6739823"/>
            <a:ext cx="109824" cy="713804"/>
          </a:xfrm>
          <a:custGeom>
            <a:rect b="b" l="l" r="r" t="t"/>
            <a:pathLst>
              <a:path extrusionOk="0" h="951738" w="146431">
                <a:moveTo>
                  <a:pt x="0" y="0"/>
                </a:moveTo>
                <a:lnTo>
                  <a:pt x="146431" y="0"/>
                </a:lnTo>
                <a:lnTo>
                  <a:pt x="146431" y="951738"/>
                </a:lnTo>
                <a:lnTo>
                  <a:pt x="0" y="951738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282" name="Google Shape;282;p5"/>
          <p:cNvSpPr txBox="1"/>
          <p:nvPr/>
        </p:nvSpPr>
        <p:spPr>
          <a:xfrm>
            <a:off x="942499" y="6812994"/>
            <a:ext cx="1876130" cy="251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Flood Risk</a:t>
            </a:r>
            <a:endParaRPr/>
          </a:p>
        </p:txBody>
      </p:sp>
      <p:sp>
        <p:nvSpPr>
          <p:cNvPr id="283" name="Google Shape;283;p5"/>
          <p:cNvSpPr txBox="1"/>
          <p:nvPr/>
        </p:nvSpPr>
        <p:spPr>
          <a:xfrm>
            <a:off x="942499" y="7146636"/>
            <a:ext cx="7366816" cy="30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Low-lying Lawaan, Banica, Tiza areas — undisclosed typhoon vulnerability</a:t>
            </a:r>
            <a:endParaRPr/>
          </a:p>
        </p:txBody>
      </p:sp>
      <p:sp>
        <p:nvSpPr>
          <p:cNvPr id="284" name="Google Shape;284;p5"/>
          <p:cNvSpPr/>
          <p:nvPr/>
        </p:nvSpPr>
        <p:spPr>
          <a:xfrm>
            <a:off x="549069" y="7645784"/>
            <a:ext cx="109824" cy="713804"/>
          </a:xfrm>
          <a:custGeom>
            <a:rect b="b" l="l" r="r" t="t"/>
            <a:pathLst>
              <a:path extrusionOk="0" h="951738" w="146431">
                <a:moveTo>
                  <a:pt x="0" y="0"/>
                </a:moveTo>
                <a:lnTo>
                  <a:pt x="146431" y="0"/>
                </a:lnTo>
                <a:lnTo>
                  <a:pt x="146431" y="951738"/>
                </a:lnTo>
                <a:lnTo>
                  <a:pt x="0" y="951738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285" name="Google Shape;285;p5"/>
          <p:cNvSpPr txBox="1"/>
          <p:nvPr/>
        </p:nvSpPr>
        <p:spPr>
          <a:xfrm>
            <a:off x="942499" y="7718955"/>
            <a:ext cx="1876130" cy="251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Safety Gaps</a:t>
            </a:r>
            <a:endParaRPr/>
          </a:p>
        </p:txBody>
      </p:sp>
      <p:sp>
        <p:nvSpPr>
          <p:cNvPr id="286" name="Google Shape;286;p5"/>
          <p:cNvSpPr txBox="1"/>
          <p:nvPr/>
        </p:nvSpPr>
        <p:spPr>
          <a:xfrm>
            <a:off x="942499" y="8052606"/>
            <a:ext cx="7366816" cy="30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No fire exits, no gate locks, no BFP clearance — found after move-in</a:t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9128274" y="1509941"/>
            <a:ext cx="82392" cy="8785098"/>
          </a:xfrm>
          <a:custGeom>
            <a:rect b="b" l="l" r="r" t="t"/>
            <a:pathLst>
              <a:path extrusionOk="0" h="11713464" w="109855">
                <a:moveTo>
                  <a:pt x="0" y="0"/>
                </a:moveTo>
                <a:lnTo>
                  <a:pt x="109855" y="0"/>
                </a:lnTo>
                <a:lnTo>
                  <a:pt x="109855" y="11713464"/>
                </a:lnTo>
                <a:lnTo>
                  <a:pt x="0" y="11713464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288" name="Google Shape;288;p5"/>
          <p:cNvSpPr txBox="1"/>
          <p:nvPr/>
        </p:nvSpPr>
        <p:spPr>
          <a:xfrm>
            <a:off x="9700146" y="1761563"/>
            <a:ext cx="791588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1" u="none" cap="none" strike="noStrike">
                <a:solidFill>
                  <a:srgbClr val="1C3A3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Stakeholders</a:t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9608706" y="2333539"/>
            <a:ext cx="2196274" cy="851059"/>
          </a:xfrm>
          <a:custGeom>
            <a:rect b="b" l="l" r="r" t="t"/>
            <a:pathLst>
              <a:path extrusionOk="0" h="1134745" w="2928366">
                <a:moveTo>
                  <a:pt x="0" y="0"/>
                </a:moveTo>
                <a:lnTo>
                  <a:pt x="2928366" y="0"/>
                </a:lnTo>
                <a:lnTo>
                  <a:pt x="2928366" y="1134745"/>
                </a:lnTo>
                <a:lnTo>
                  <a:pt x="0" y="1134745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290" name="Google Shape;290;p5"/>
          <p:cNvSpPr txBox="1"/>
          <p:nvPr/>
        </p:nvSpPr>
        <p:spPr>
          <a:xfrm>
            <a:off x="9837410" y="2479548"/>
            <a:ext cx="1738865" cy="604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866E"/>
                </a:solidFill>
                <a:latin typeface="Lato"/>
                <a:ea typeface="Lato"/>
                <a:cs typeface="Lato"/>
                <a:sym typeface="Lato"/>
              </a:rPr>
              <a:t>Direct Beneficiaries</a:t>
            </a:r>
            <a:endParaRPr/>
          </a:p>
        </p:txBody>
      </p:sp>
      <p:sp>
        <p:nvSpPr>
          <p:cNvPr id="291" name="Google Shape;291;p5"/>
          <p:cNvSpPr txBox="1"/>
          <p:nvPr/>
        </p:nvSpPr>
        <p:spPr>
          <a:xfrm>
            <a:off x="12102322" y="2516534"/>
            <a:ext cx="5445071" cy="59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Relocating students and parents requiring safe, transparent housing</a:t>
            </a:r>
            <a:endParaRPr/>
          </a:p>
        </p:txBody>
      </p:sp>
      <p:sp>
        <p:nvSpPr>
          <p:cNvPr id="292" name="Google Shape;292;p5"/>
          <p:cNvSpPr/>
          <p:nvPr/>
        </p:nvSpPr>
        <p:spPr>
          <a:xfrm>
            <a:off x="9608706" y="3363049"/>
            <a:ext cx="2196274" cy="851059"/>
          </a:xfrm>
          <a:custGeom>
            <a:rect b="b" l="l" r="r" t="t"/>
            <a:pathLst>
              <a:path extrusionOk="0" h="1134745" w="2928366">
                <a:moveTo>
                  <a:pt x="0" y="0"/>
                </a:moveTo>
                <a:lnTo>
                  <a:pt x="2928366" y="0"/>
                </a:lnTo>
                <a:lnTo>
                  <a:pt x="2928366" y="1134745"/>
                </a:lnTo>
                <a:lnTo>
                  <a:pt x="0" y="1134745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293" name="Google Shape;293;p5"/>
          <p:cNvSpPr txBox="1"/>
          <p:nvPr/>
        </p:nvSpPr>
        <p:spPr>
          <a:xfrm>
            <a:off x="9837410" y="3509058"/>
            <a:ext cx="1738865" cy="604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866E"/>
                </a:solidFill>
                <a:latin typeface="Lato"/>
                <a:ea typeface="Lato"/>
                <a:cs typeface="Lato"/>
                <a:sym typeface="Lato"/>
              </a:rPr>
              <a:t>Secondary Beneficiaries</a:t>
            </a:r>
            <a:endParaRPr/>
          </a:p>
        </p:txBody>
      </p:sp>
      <p:sp>
        <p:nvSpPr>
          <p:cNvPr id="294" name="Google Shape;294;p5"/>
          <p:cNvSpPr txBox="1"/>
          <p:nvPr/>
        </p:nvSpPr>
        <p:spPr>
          <a:xfrm>
            <a:off x="12102322" y="3546034"/>
            <a:ext cx="5445071" cy="59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Compliant landlords gaining reliable tenants without broker fees</a:t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>
            <a:off x="9608706" y="4392549"/>
            <a:ext cx="2196274" cy="851059"/>
          </a:xfrm>
          <a:custGeom>
            <a:rect b="b" l="l" r="r" t="t"/>
            <a:pathLst>
              <a:path extrusionOk="0" h="1134745" w="2928366">
                <a:moveTo>
                  <a:pt x="0" y="0"/>
                </a:moveTo>
                <a:lnTo>
                  <a:pt x="2928366" y="0"/>
                </a:lnTo>
                <a:lnTo>
                  <a:pt x="2928366" y="1134745"/>
                </a:lnTo>
                <a:lnTo>
                  <a:pt x="0" y="1134745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296" name="Google Shape;296;p5"/>
          <p:cNvSpPr txBox="1"/>
          <p:nvPr/>
        </p:nvSpPr>
        <p:spPr>
          <a:xfrm>
            <a:off x="9837410" y="4538558"/>
            <a:ext cx="1738865" cy="604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E866E"/>
                </a:solidFill>
                <a:latin typeface="Lato"/>
                <a:ea typeface="Lato"/>
                <a:cs typeface="Lato"/>
                <a:sym typeface="Lato"/>
              </a:rPr>
              <a:t>Institutional Actors</a:t>
            </a:r>
            <a:endParaRPr/>
          </a:p>
        </p:txBody>
      </p:sp>
      <p:sp>
        <p:nvSpPr>
          <p:cNvPr id="297" name="Google Shape;297;p5"/>
          <p:cNvSpPr txBox="1"/>
          <p:nvPr/>
        </p:nvSpPr>
        <p:spPr>
          <a:xfrm>
            <a:off x="12102322" y="4575543"/>
            <a:ext cx="5445071" cy="59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Hercor Student Affairs Office, Barangay Lawaan Council, BFP</a:t>
            </a:r>
            <a:endParaRPr/>
          </a:p>
        </p:txBody>
      </p:sp>
      <p:sp>
        <p:nvSpPr>
          <p:cNvPr id="298" name="Google Shape;298;p5"/>
          <p:cNvSpPr txBox="1"/>
          <p:nvPr/>
        </p:nvSpPr>
        <p:spPr>
          <a:xfrm>
            <a:off x="9700146" y="5742308"/>
            <a:ext cx="791588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1C3A3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Hyper-Local Filters — What Makes This Different</a:t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9608706" y="6341745"/>
            <a:ext cx="1784509" cy="658844"/>
          </a:xfrm>
          <a:custGeom>
            <a:rect b="b" l="l" r="r" t="t"/>
            <a:pathLst>
              <a:path extrusionOk="0" h="878459" w="2379345">
                <a:moveTo>
                  <a:pt x="0" y="0"/>
                </a:moveTo>
                <a:lnTo>
                  <a:pt x="2379345" y="0"/>
                </a:lnTo>
                <a:lnTo>
                  <a:pt x="2379345" y="878459"/>
                </a:lnTo>
                <a:lnTo>
                  <a:pt x="0" y="878459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300" name="Google Shape;300;p5"/>
          <p:cNvSpPr txBox="1"/>
          <p:nvPr/>
        </p:nvSpPr>
        <p:spPr>
          <a:xfrm>
            <a:off x="9809959" y="6483553"/>
            <a:ext cx="1395689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Proximity</a:t>
            </a:r>
            <a:endParaRPr/>
          </a:p>
        </p:txBody>
      </p:sp>
      <p:sp>
        <p:nvSpPr>
          <p:cNvPr id="301" name="Google Shape;301;p5"/>
          <p:cNvSpPr txBox="1"/>
          <p:nvPr/>
        </p:nvSpPr>
        <p:spPr>
          <a:xfrm>
            <a:off x="11690518" y="6511004"/>
            <a:ext cx="585687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&lt; 500 m from Hercor Lawaan Gate (GPS-measured)</a:t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9608706" y="7165353"/>
            <a:ext cx="1784509" cy="658844"/>
          </a:xfrm>
          <a:custGeom>
            <a:rect b="b" l="l" r="r" t="t"/>
            <a:pathLst>
              <a:path extrusionOk="0" h="878459" w="2379345">
                <a:moveTo>
                  <a:pt x="0" y="0"/>
                </a:moveTo>
                <a:lnTo>
                  <a:pt x="2379345" y="0"/>
                </a:lnTo>
                <a:lnTo>
                  <a:pt x="2379345" y="878459"/>
                </a:lnTo>
                <a:lnTo>
                  <a:pt x="0" y="878459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303" name="Google Shape;303;p5"/>
          <p:cNvSpPr txBox="1"/>
          <p:nvPr/>
        </p:nvSpPr>
        <p:spPr>
          <a:xfrm>
            <a:off x="9809959" y="7307161"/>
            <a:ext cx="1395689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CAPELCO Rate</a:t>
            </a:r>
            <a:endParaRPr/>
          </a:p>
        </p:txBody>
      </p:sp>
      <p:sp>
        <p:nvSpPr>
          <p:cNvPr id="304" name="Google Shape;304;p5"/>
          <p:cNvSpPr txBox="1"/>
          <p:nvPr/>
        </p:nvSpPr>
        <p:spPr>
          <a:xfrm>
            <a:off x="11690518" y="7334612"/>
            <a:ext cx="585687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Sub-meter at standard residential baseline verified</a:t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9608706" y="7988951"/>
            <a:ext cx="1784509" cy="658844"/>
          </a:xfrm>
          <a:custGeom>
            <a:rect b="b" l="l" r="r" t="t"/>
            <a:pathLst>
              <a:path extrusionOk="0" h="878459" w="2379345">
                <a:moveTo>
                  <a:pt x="0" y="0"/>
                </a:moveTo>
                <a:lnTo>
                  <a:pt x="2379345" y="0"/>
                </a:lnTo>
                <a:lnTo>
                  <a:pt x="2379345" y="878459"/>
                </a:lnTo>
                <a:lnTo>
                  <a:pt x="0" y="878459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306" name="Google Shape;306;p5"/>
          <p:cNvSpPr txBox="1"/>
          <p:nvPr/>
        </p:nvSpPr>
        <p:spPr>
          <a:xfrm>
            <a:off x="9809959" y="8130759"/>
            <a:ext cx="1395689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Flood Risk</a:t>
            </a:r>
            <a:endParaRPr/>
          </a:p>
        </p:txBody>
      </p:sp>
      <p:sp>
        <p:nvSpPr>
          <p:cNvPr id="307" name="Google Shape;307;p5"/>
          <p:cNvSpPr txBox="1"/>
          <p:nvPr/>
        </p:nvSpPr>
        <p:spPr>
          <a:xfrm>
            <a:off x="11690518" y="8158210"/>
            <a:ext cx="585687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Monsoon flood-risk badge: Low / Medium / High</a:t>
            </a:r>
            <a:endParaRPr/>
          </a:p>
        </p:txBody>
      </p:sp>
      <p:sp>
        <p:nvSpPr>
          <p:cNvPr id="308" name="Google Shape;308;p5"/>
          <p:cNvSpPr/>
          <p:nvPr/>
        </p:nvSpPr>
        <p:spPr>
          <a:xfrm>
            <a:off x="9608706" y="8812559"/>
            <a:ext cx="1784509" cy="658844"/>
          </a:xfrm>
          <a:custGeom>
            <a:rect b="b" l="l" r="r" t="t"/>
            <a:pathLst>
              <a:path extrusionOk="0" h="878459" w="2379345">
                <a:moveTo>
                  <a:pt x="0" y="0"/>
                </a:moveTo>
                <a:lnTo>
                  <a:pt x="2379345" y="0"/>
                </a:lnTo>
                <a:lnTo>
                  <a:pt x="2379345" y="878459"/>
                </a:lnTo>
                <a:lnTo>
                  <a:pt x="0" y="878459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309" name="Google Shape;309;p5"/>
          <p:cNvSpPr txBox="1"/>
          <p:nvPr/>
        </p:nvSpPr>
        <p:spPr>
          <a:xfrm>
            <a:off x="9809959" y="8954367"/>
            <a:ext cx="1395689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BFP Clearance</a:t>
            </a:r>
            <a:endParaRPr/>
          </a:p>
        </p:txBody>
      </p:sp>
      <p:sp>
        <p:nvSpPr>
          <p:cNvPr id="310" name="Google Shape;310;p5"/>
          <p:cNvSpPr txBox="1"/>
          <p:nvPr/>
        </p:nvSpPr>
        <p:spPr>
          <a:xfrm>
            <a:off x="11690518" y="8981818"/>
            <a:ext cx="585687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1C3A35"/>
                </a:solidFill>
                <a:latin typeface="Lato"/>
                <a:ea typeface="Lato"/>
                <a:cs typeface="Lato"/>
                <a:sym typeface="Lato"/>
              </a:rPr>
              <a:t>Fire inspection certificate uploaded by landlord</a:t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5E6C8"/>
          </a:solidFill>
          <a:ln>
            <a:noFill/>
          </a:ln>
        </p:spPr>
      </p:sp>
      <p:sp>
        <p:nvSpPr>
          <p:cNvPr id="317" name="Google Shape;317;p7"/>
          <p:cNvSpPr/>
          <p:nvPr/>
        </p:nvSpPr>
        <p:spPr>
          <a:xfrm>
            <a:off x="0" y="0"/>
            <a:ext cx="18297715" cy="1235392"/>
          </a:xfrm>
          <a:custGeom>
            <a:rect b="b" l="l" r="r" t="t"/>
            <a:pathLst>
              <a:path extrusionOk="0" h="1647190" w="24396954">
                <a:moveTo>
                  <a:pt x="0" y="0"/>
                </a:moveTo>
                <a:lnTo>
                  <a:pt x="24396954" y="0"/>
                </a:lnTo>
                <a:lnTo>
                  <a:pt x="24396954" y="1647190"/>
                </a:lnTo>
                <a:lnTo>
                  <a:pt x="0" y="1647190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318" name="Google Shape;318;p7"/>
          <p:cNvSpPr txBox="1"/>
          <p:nvPr/>
        </p:nvSpPr>
        <p:spPr>
          <a:xfrm>
            <a:off x="640509" y="200920"/>
            <a:ext cx="8053159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2E866E"/>
                </a:solidFill>
                <a:latin typeface="Lato"/>
                <a:ea typeface="Lato"/>
                <a:cs typeface="Lato"/>
                <a:sym typeface="Lato"/>
              </a:rPr>
              <a:t>TECHNICAL FEASIBILITY — SLIDE 7</a:t>
            </a:r>
            <a:endParaRPr/>
          </a:p>
        </p:txBody>
      </p:sp>
      <p:sp>
        <p:nvSpPr>
          <p:cNvPr id="319" name="Google Shape;319;p7"/>
          <p:cNvSpPr txBox="1"/>
          <p:nvPr/>
        </p:nvSpPr>
        <p:spPr>
          <a:xfrm>
            <a:off x="640509" y="649700"/>
            <a:ext cx="13543845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Both Stacks Side by Side  ·  ₱0 Operational Cost  ·  Free-Tier Cloud Architecture</a:t>
            </a:r>
            <a:endParaRPr/>
          </a:p>
        </p:txBody>
      </p:sp>
      <p:graphicFrame>
        <p:nvGraphicFramePr>
          <p:cNvPr id="320" name="Google Shape;320;p7"/>
          <p:cNvGraphicFramePr/>
          <p:nvPr/>
        </p:nvGraphicFramePr>
        <p:xfrm>
          <a:off x="549069" y="1441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{EDBD185C-7CF8-4867-B89C-8E54964398B5}</a:tableStyleId>
              </a:tblPr>
              <a:tblGrid>
                <a:gridCol w="5719475"/>
                <a:gridCol w="5719475"/>
                <a:gridCol w="5719475"/>
              </a:tblGrid>
              <a:tr h="81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1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Layer / Component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3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1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TrikeRoxas FairFare Portal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3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1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BalayCapiz Housing Portal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3A35"/>
                    </a:solidFill>
                  </a:tcPr>
                </a:tc>
              </a:tr>
              <a:tr h="81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1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 Framework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HTML5 / Tailwind CSS / Leaflet.js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HTML / Tailwind CSS / React (or Vanilla JS)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</a:tr>
              <a:tr h="81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1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Mapping / Location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Leaflet.js + OpenStreetMap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(fare zone overlays, terminal pins)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Leaflet.js + OpenStreetMap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(campus boundary, property pins)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1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1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 / Database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Supabase (PostgreSQL) + Node.js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Incident_Tickets, Verified_Drivers tables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Supabase (PostgreSQL) + File Storage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Listings, Student_Reviews tables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</a:tr>
              <a:tr h="81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1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Hosting / Deployment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Vercel (free tier)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Auto-deploy from GitHub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Vercel (free tier)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Auto-deploy from GitHub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1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1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Authentication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SMS OTP (one-time pass) for report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submission + GPS geofencing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Student ID upload for review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1C3A3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verification (zero login for search)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7F2"/>
                    </a:solidFill>
                  </a:tcPr>
                </a:tc>
              </a:tr>
              <a:tr h="81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1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Monthly Operational Cost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26" u="none" cap="none" strike="noStrike">
                          <a:solidFill>
                            <a:srgbClr val="D95B37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₱ 0.00  (Vercel + Supabase free tier)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1" u="none" cap="none" strike="noStrike">
                          <a:solidFill>
                            <a:srgbClr val="D95B37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₱ 0.00  (Vercel + Supabase free tier)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E0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7"/>
          <p:cNvSpPr txBox="1"/>
          <p:nvPr/>
        </p:nvSpPr>
        <p:spPr>
          <a:xfrm>
            <a:off x="640509" y="7526788"/>
            <a:ext cx="7778620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1" u="none" cap="none" strike="noStrike">
                <a:solidFill>
                  <a:srgbClr val="1C3A3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TrikeRoxas — Database Schema</a:t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549069" y="7961500"/>
            <a:ext cx="8030147" cy="2223707"/>
          </a:xfrm>
          <a:custGeom>
            <a:rect b="b" l="l" r="r" t="t"/>
            <a:pathLst>
              <a:path extrusionOk="0" h="2964942" w="10706862">
                <a:moveTo>
                  <a:pt x="0" y="0"/>
                </a:moveTo>
                <a:lnTo>
                  <a:pt x="10706862" y="0"/>
                </a:lnTo>
                <a:lnTo>
                  <a:pt x="10706862" y="2964942"/>
                </a:lnTo>
                <a:lnTo>
                  <a:pt x="0" y="2964942"/>
                </a:lnTo>
                <a:close/>
              </a:path>
            </a:pathLst>
          </a:custGeom>
          <a:solidFill>
            <a:srgbClr val="11221F"/>
          </a:solidFill>
          <a:ln>
            <a:noFill/>
          </a:ln>
        </p:spPr>
      </p:sp>
      <p:sp>
        <p:nvSpPr>
          <p:cNvPr id="323" name="Google Shape;323;p7"/>
          <p:cNvSpPr txBox="1"/>
          <p:nvPr/>
        </p:nvSpPr>
        <p:spPr>
          <a:xfrm>
            <a:off x="846411" y="8075857"/>
            <a:ext cx="7435453" cy="2036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CREATE TABLE Incident_Tickets (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ticket_id      UUID  PRIMARY KEY DEFAULT gen_random_uuid(),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body_number    VARCHAR(10) NOT NULL,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toda_assoc     VARCHAR(50),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origin_loc     VARCHAR(100),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destination    VARCHAR(100),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official_fare  NUMERIC(6,2),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demanded_fare  NUMERIC(6,2),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user_phone_hash VARCHAR(64), -- OTP Authenticated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created_at     TIMESTAMP DEFAULT NOW()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/>
          </a:p>
        </p:txBody>
      </p:sp>
      <p:sp>
        <p:nvSpPr>
          <p:cNvPr id="324" name="Google Shape;324;p7"/>
          <p:cNvSpPr txBox="1"/>
          <p:nvPr/>
        </p:nvSpPr>
        <p:spPr>
          <a:xfrm>
            <a:off x="9631509" y="7526788"/>
            <a:ext cx="8053159" cy="3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1" u="none" cap="none" strike="noStrike">
                <a:solidFill>
                  <a:srgbClr val="1C3A3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BalayCapiz — Database Schema (Listings table)</a:t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9540069" y="7961500"/>
            <a:ext cx="8208550" cy="2223707"/>
          </a:xfrm>
          <a:custGeom>
            <a:rect b="b" l="l" r="r" t="t"/>
            <a:pathLst>
              <a:path extrusionOk="0" h="2964942" w="10944733">
                <a:moveTo>
                  <a:pt x="0" y="0"/>
                </a:moveTo>
                <a:lnTo>
                  <a:pt x="10944733" y="0"/>
                </a:lnTo>
                <a:lnTo>
                  <a:pt x="10944733" y="2964942"/>
                </a:lnTo>
                <a:lnTo>
                  <a:pt x="0" y="2964942"/>
                </a:lnTo>
                <a:close/>
              </a:path>
            </a:pathLst>
          </a:custGeom>
          <a:solidFill>
            <a:srgbClr val="11221F"/>
          </a:solidFill>
          <a:ln>
            <a:noFill/>
          </a:ln>
        </p:spPr>
      </p:sp>
      <p:sp>
        <p:nvSpPr>
          <p:cNvPr id="326" name="Google Shape;326;p7"/>
          <p:cNvSpPr txBox="1"/>
          <p:nvPr/>
        </p:nvSpPr>
        <p:spPr>
          <a:xfrm>
            <a:off x="9837410" y="8075857"/>
            <a:ext cx="7572718" cy="2036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CREATE TABLE Listings (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listing_id         UUID PRIMARY KEY DEFAULT gen_random_uuid(),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property_name      VARCHAR(100) NOT NULL,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address_street     VARCHAR(150) NOT NULL,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monthly_rent       NUMERIC(8,2) NOT NULL,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target_campus      VARCHAR(50),   -- 'Hercor Lawaan'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distance_meters    INT,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is_capelco_standard BOOLEAN DEFAULT TRUE,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flood_risk_level   VARCHAR(20),   -- 'Low','Medium','High'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landlord_phone     VARCHAR(15) NOT NULL,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  created_at         TIMESTAMP DEFAULT NOW()</a:t>
            </a:r>
            <a:endParaRPr/>
          </a:p>
          <a:p>
            <a:pPr indent="0" lvl="0" marL="0" marR="0" rtl="0" algn="l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E6C8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333" name="Google Shape;333;p8"/>
          <p:cNvSpPr/>
          <p:nvPr/>
        </p:nvSpPr>
        <p:spPr>
          <a:xfrm>
            <a:off x="0" y="0"/>
            <a:ext cx="18297715" cy="988314"/>
          </a:xfrm>
          <a:custGeom>
            <a:rect b="b" l="l" r="r" t="t"/>
            <a:pathLst>
              <a:path extrusionOk="0" h="1317752" w="24396954">
                <a:moveTo>
                  <a:pt x="0" y="0"/>
                </a:moveTo>
                <a:lnTo>
                  <a:pt x="24396954" y="0"/>
                </a:lnTo>
                <a:lnTo>
                  <a:pt x="24396954" y="1317752"/>
                </a:lnTo>
                <a:lnTo>
                  <a:pt x="0" y="1317752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334" name="Google Shape;334;p8"/>
          <p:cNvSpPr txBox="1"/>
          <p:nvPr/>
        </p:nvSpPr>
        <p:spPr>
          <a:xfrm>
            <a:off x="640509" y="182985"/>
            <a:ext cx="16289188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Real-World Risk Mitigation Matrix — Q&amp;A Defense</a:t>
            </a:r>
            <a:endParaRPr/>
          </a:p>
        </p:txBody>
      </p:sp>
      <p:sp>
        <p:nvSpPr>
          <p:cNvPr id="335" name="Google Shape;335;p8"/>
          <p:cNvSpPr txBox="1"/>
          <p:nvPr/>
        </p:nvSpPr>
        <p:spPr>
          <a:xfrm>
            <a:off x="571871" y="1212494"/>
            <a:ext cx="8396326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2E86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TrikeRoxas FairFare Portal</a:t>
            </a:r>
            <a:endParaRPr/>
          </a:p>
        </p:txBody>
      </p:sp>
      <p:graphicFrame>
        <p:nvGraphicFramePr>
          <p:cNvPr id="336" name="Google Shape;336;p8"/>
          <p:cNvGraphicFramePr/>
          <p:nvPr/>
        </p:nvGraphicFramePr>
        <p:xfrm>
          <a:off x="480435" y="17158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{EDBD185C-7CF8-4867-B89C-8E54964398B5}</a:tableStyleId>
              </a:tblPr>
              <a:tblGrid>
                <a:gridCol w="2859725"/>
                <a:gridCol w="2859725"/>
                <a:gridCol w="2859725"/>
              </a:tblGrid>
              <a:tr h="101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Friction Point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Operational Risk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Tech &amp; Policy Defense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</a:tr>
              <a:tr h="101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D95B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False / Malicious Reports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Disgruntled passengers file fake complaints against innocent drivers.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OTP &amp; Geofencing: Reports require SMS OTP + GPS within Roxas City.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</a:tr>
              <a:tr h="101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D95B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Driver Boycott / Strikes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TODAs protest app as government surveillance of drivers.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"Bad Actor" Framing: Position app as protecting legitimate franchised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drivers from colorum operators who damage TODA credibility.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1A"/>
                    </a:solidFill>
                  </a:tcPr>
                </a:tc>
              </a:tr>
              <a:tr h="101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D95B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LGU Inaction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City Hall moves slowly to act on digital reports.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 Weekly Summaries: PDF sent to TODA Presidents for internal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disciplinary action before formal LGU franchise reviews.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</a:tr>
            </a:tbl>
          </a:graphicData>
        </a:graphic>
      </p:graphicFrame>
      <p:sp>
        <p:nvSpPr>
          <p:cNvPr id="337" name="Google Shape;337;p8"/>
          <p:cNvSpPr txBox="1"/>
          <p:nvPr/>
        </p:nvSpPr>
        <p:spPr>
          <a:xfrm>
            <a:off x="9631509" y="1212494"/>
            <a:ext cx="8053159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1" u="none" cap="none" strike="noStrike">
                <a:solidFill>
                  <a:srgbClr val="2E86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BalayCapiz Student Housing Portal</a:t>
            </a:r>
            <a:endParaRPr/>
          </a:p>
        </p:txBody>
      </p:sp>
      <p:graphicFrame>
        <p:nvGraphicFramePr>
          <p:cNvPr id="338" name="Google Shape;338;p8"/>
          <p:cNvGraphicFramePr/>
          <p:nvPr/>
        </p:nvGraphicFramePr>
        <p:xfrm>
          <a:off x="9540073" y="17158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{EDBD185C-7CF8-4867-B89C-8E54964398B5}</a:tableStyleId>
              </a:tblPr>
              <a:tblGrid>
                <a:gridCol w="2745350"/>
                <a:gridCol w="2745350"/>
                <a:gridCol w="2745350"/>
              </a:tblGrid>
              <a:tr h="101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Friction Point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Operational Risk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Tech &amp; Policy Defense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</a:tr>
              <a:tr h="101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D95B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Cold-Start Problem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Empty directory at launch makes the site useless.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Pre-Launch Survey: Team manually pre-populates 20–30 popular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boarding houses around Lawaan before launch.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</a:tr>
              <a:tr h="101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D95B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Stale Listings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Landlords forget to mark rooms as occupied.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30-Day Auto-Expiration: Listings auto-archive after 30 days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unless extended by landlord with a single tap.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E1A"/>
                    </a:solidFill>
                  </a:tcPr>
                </a:tc>
              </a:tr>
              <a:tr h="101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75" u="none" cap="none" strike="noStrike">
                          <a:solidFill>
                            <a:srgbClr val="D95B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Defamatory Reviews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Angry students leave unfair or fabricated negative reviews.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Proof of Tenancy: Reviews require student ID or rental receipt.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F5E6C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Landlords get a "Landlord Reply" box under every rating.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822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8"/>
          <p:cNvSpPr/>
          <p:nvPr/>
        </p:nvSpPr>
        <p:spPr>
          <a:xfrm>
            <a:off x="480431" y="5971127"/>
            <a:ext cx="17295685" cy="892207"/>
          </a:xfrm>
          <a:custGeom>
            <a:rect b="b" l="l" r="r" t="t"/>
            <a:pathLst>
              <a:path extrusionOk="0" h="1189609" w="23060913">
                <a:moveTo>
                  <a:pt x="0" y="0"/>
                </a:moveTo>
                <a:lnTo>
                  <a:pt x="23060913" y="0"/>
                </a:lnTo>
                <a:lnTo>
                  <a:pt x="23060913" y="1189609"/>
                </a:lnTo>
                <a:lnTo>
                  <a:pt x="0" y="1189609"/>
                </a:lnTo>
                <a:close/>
              </a:path>
            </a:pathLst>
          </a:custGeom>
          <a:solidFill>
            <a:srgbClr val="11221F"/>
          </a:solidFill>
          <a:ln>
            <a:noFill/>
          </a:ln>
        </p:spPr>
      </p:sp>
      <p:sp>
        <p:nvSpPr>
          <p:cNvPr id="340" name="Google Shape;340;p8"/>
          <p:cNvSpPr txBox="1"/>
          <p:nvPr/>
        </p:nvSpPr>
        <p:spPr>
          <a:xfrm>
            <a:off x="846411" y="6112935"/>
            <a:ext cx="16563727" cy="663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6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Both proposals are designed to fail gracefully: TrikeRoxas requires 3 independent reports before any driver action; BalayCapiz requires tenancy proof before any review publishes. Neither platform takes unilateral action against individuals.</a:t>
            </a:r>
            <a:endParaRPr/>
          </a:p>
        </p:txBody>
      </p:sp>
      <p:sp>
        <p:nvSpPr>
          <p:cNvPr id="341" name="Google Shape;341;p8"/>
          <p:cNvSpPr txBox="1"/>
          <p:nvPr/>
        </p:nvSpPr>
        <p:spPr>
          <a:xfrm>
            <a:off x="571871" y="7156161"/>
            <a:ext cx="17112796" cy="38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F5E6C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Q&amp;A Defense Quick Reference</a:t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470906" y="7677436"/>
            <a:ext cx="5646991" cy="2283999"/>
          </a:xfrm>
          <a:custGeom>
            <a:rect b="b" l="l" r="r" t="t"/>
            <a:pathLst>
              <a:path extrusionOk="0" h="3045333" w="7529322">
                <a:moveTo>
                  <a:pt x="0" y="0"/>
                </a:moveTo>
                <a:lnTo>
                  <a:pt x="7529322" y="0"/>
                </a:lnTo>
                <a:lnTo>
                  <a:pt x="7529322" y="3045333"/>
                </a:lnTo>
                <a:lnTo>
                  <a:pt x="0" y="3045333"/>
                </a:lnTo>
                <a:close/>
              </a:path>
            </a:pathLst>
          </a:custGeom>
          <a:solidFill>
            <a:srgbClr val="112822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3" name="Google Shape;343;p8"/>
          <p:cNvSpPr txBox="1"/>
          <p:nvPr/>
        </p:nvSpPr>
        <p:spPr>
          <a:xfrm>
            <a:off x="777773" y="7828769"/>
            <a:ext cx="5033277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D95B37"/>
                </a:solidFill>
                <a:latin typeface="Roboto Mono"/>
                <a:ea typeface="Roboto Mono"/>
                <a:cs typeface="Roboto Mono"/>
                <a:sym typeface="Roboto Mono"/>
              </a:rPr>
              <a:t>"What if drivers boycott?"</a:t>
            </a:r>
            <a:endParaRPr/>
          </a:p>
        </p:txBody>
      </p:sp>
      <p:sp>
        <p:nvSpPr>
          <p:cNvPr id="344" name="Google Shape;344;p8"/>
          <p:cNvSpPr txBox="1"/>
          <p:nvPr/>
        </p:nvSpPr>
        <p:spPr>
          <a:xfrm>
            <a:off x="777773" y="8409499"/>
            <a:ext cx="5033277" cy="1428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Lato"/>
                <a:ea typeface="Lato"/>
                <a:cs typeface="Lato"/>
                <a:sym typeface="Lato"/>
              </a:rPr>
              <a:t>Frame TrikeRoxas as protecting legitimate TODA operators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Lato"/>
                <a:ea typeface="Lato"/>
                <a:cs typeface="Lato"/>
                <a:sym typeface="Lato"/>
              </a:rPr>
              <a:t>from colorum competitors, not as surveillance.</a:t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6373397" y="7677436"/>
            <a:ext cx="5646991" cy="2283999"/>
          </a:xfrm>
          <a:custGeom>
            <a:rect b="b" l="l" r="r" t="t"/>
            <a:pathLst>
              <a:path extrusionOk="0" h="3045333" w="7529322">
                <a:moveTo>
                  <a:pt x="0" y="0"/>
                </a:moveTo>
                <a:lnTo>
                  <a:pt x="7529322" y="0"/>
                </a:lnTo>
                <a:lnTo>
                  <a:pt x="7529322" y="3045333"/>
                </a:lnTo>
                <a:lnTo>
                  <a:pt x="0" y="3045333"/>
                </a:lnTo>
                <a:close/>
              </a:path>
            </a:pathLst>
          </a:custGeom>
          <a:solidFill>
            <a:srgbClr val="112822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6" name="Google Shape;346;p8"/>
          <p:cNvSpPr txBox="1"/>
          <p:nvPr/>
        </p:nvSpPr>
        <p:spPr>
          <a:xfrm>
            <a:off x="6680264" y="7828769"/>
            <a:ext cx="5033277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D95B37"/>
                </a:solidFill>
                <a:latin typeface="Roboto Mono"/>
                <a:ea typeface="Roboto Mono"/>
                <a:cs typeface="Roboto Mono"/>
                <a:sym typeface="Roboto Mono"/>
              </a:rPr>
              <a:t>"Who validates the listings?"</a:t>
            </a:r>
            <a:endParaRPr/>
          </a:p>
        </p:txBody>
      </p:sp>
      <p:sp>
        <p:nvSpPr>
          <p:cNvPr id="347" name="Google Shape;347;p8"/>
          <p:cNvSpPr txBox="1"/>
          <p:nvPr/>
        </p:nvSpPr>
        <p:spPr>
          <a:xfrm>
            <a:off x="6680264" y="8409499"/>
            <a:ext cx="5033277" cy="1428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Lato"/>
                <a:ea typeface="Lato"/>
                <a:cs typeface="Lato"/>
                <a:sym typeface="Lato"/>
              </a:rPr>
              <a:t>Pre-launch team survey seeds 20–30 verified listings.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Lato"/>
                <a:ea typeface="Lato"/>
                <a:cs typeface="Lato"/>
                <a:sym typeface="Lato"/>
              </a:rPr>
              <a:t>30-day expiry creates a self-cleaning directory.</a:t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12275887" y="7677436"/>
            <a:ext cx="5646991" cy="2283999"/>
          </a:xfrm>
          <a:custGeom>
            <a:rect b="b" l="l" r="r" t="t"/>
            <a:pathLst>
              <a:path extrusionOk="0" h="3045333" w="7529322">
                <a:moveTo>
                  <a:pt x="0" y="0"/>
                </a:moveTo>
                <a:lnTo>
                  <a:pt x="7529322" y="0"/>
                </a:lnTo>
                <a:lnTo>
                  <a:pt x="7529322" y="3045333"/>
                </a:lnTo>
                <a:lnTo>
                  <a:pt x="0" y="3045333"/>
                </a:lnTo>
                <a:close/>
              </a:path>
            </a:pathLst>
          </a:custGeom>
          <a:solidFill>
            <a:srgbClr val="112822"/>
          </a:solidFill>
          <a:ln cap="sq" cmpd="sng" w="19050">
            <a:solidFill>
              <a:srgbClr val="2E866E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9" name="Google Shape;349;p8"/>
          <p:cNvSpPr txBox="1"/>
          <p:nvPr/>
        </p:nvSpPr>
        <p:spPr>
          <a:xfrm>
            <a:off x="12582763" y="7828769"/>
            <a:ext cx="5033277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D95B37"/>
                </a:solidFill>
                <a:latin typeface="Roboto Mono"/>
                <a:ea typeface="Roboto Mono"/>
                <a:cs typeface="Roboto Mono"/>
                <a:sym typeface="Roboto Mono"/>
              </a:rPr>
              <a:t>"What's the running cost?"</a:t>
            </a:r>
            <a:endParaRPr/>
          </a:p>
        </p:txBody>
      </p:sp>
      <p:sp>
        <p:nvSpPr>
          <p:cNvPr id="350" name="Google Shape;350;p8"/>
          <p:cNvSpPr txBox="1"/>
          <p:nvPr/>
        </p:nvSpPr>
        <p:spPr>
          <a:xfrm>
            <a:off x="12582763" y="8409499"/>
            <a:ext cx="5033277" cy="1428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Lato"/>
                <a:ea typeface="Lato"/>
                <a:cs typeface="Lato"/>
                <a:sym typeface="Lato"/>
              </a:rPr>
              <a:t>₱0/month. Vercel free tier: 100 GB bandwidth.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1" u="none" cap="none" strike="noStrike">
                <a:solidFill>
                  <a:srgbClr val="F5E6C8"/>
                </a:solidFill>
                <a:latin typeface="Lato"/>
                <a:ea typeface="Lato"/>
                <a:cs typeface="Lato"/>
                <a:sym typeface="Lato"/>
              </a:rPr>
              <a:t>Supabase free tier: 500 MB DB, 1 GB storage.</a:t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"/>
          <p:cNvSpPr/>
          <p:nvPr/>
        </p:nvSpPr>
        <p:spPr>
          <a:xfrm>
            <a:off x="0" y="0"/>
            <a:ext cx="18297715" cy="10295001"/>
          </a:xfrm>
          <a:custGeom>
            <a:rect b="b" l="l" r="r" t="t"/>
            <a:pathLst>
              <a:path extrusionOk="0" h="13726668" w="24396954">
                <a:moveTo>
                  <a:pt x="0" y="0"/>
                </a:moveTo>
                <a:lnTo>
                  <a:pt x="24396954" y="0"/>
                </a:lnTo>
                <a:lnTo>
                  <a:pt x="2439695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AF7F2"/>
          </a:solidFill>
          <a:ln>
            <a:noFill/>
          </a:ln>
        </p:spPr>
      </p:sp>
      <p:sp>
        <p:nvSpPr>
          <p:cNvPr id="357" name="Google Shape;357;p9"/>
          <p:cNvSpPr/>
          <p:nvPr/>
        </p:nvSpPr>
        <p:spPr>
          <a:xfrm>
            <a:off x="0" y="0"/>
            <a:ext cx="18297715" cy="1207961"/>
          </a:xfrm>
          <a:custGeom>
            <a:rect b="b" l="l" r="r" t="t"/>
            <a:pathLst>
              <a:path extrusionOk="0" h="1610614" w="24396954">
                <a:moveTo>
                  <a:pt x="0" y="0"/>
                </a:moveTo>
                <a:lnTo>
                  <a:pt x="24396954" y="0"/>
                </a:lnTo>
                <a:lnTo>
                  <a:pt x="24396954" y="1610614"/>
                </a:lnTo>
                <a:lnTo>
                  <a:pt x="0" y="1610614"/>
                </a:lnTo>
                <a:close/>
              </a:path>
            </a:pathLst>
          </a:custGeom>
          <a:solidFill>
            <a:srgbClr val="1C3A35"/>
          </a:solidFill>
          <a:ln>
            <a:noFill/>
          </a:ln>
        </p:spPr>
      </p:sp>
      <p:sp>
        <p:nvSpPr>
          <p:cNvPr id="358" name="Google Shape;358;p9"/>
          <p:cNvSpPr txBox="1"/>
          <p:nvPr/>
        </p:nvSpPr>
        <p:spPr>
          <a:xfrm>
            <a:off x="640509" y="200920"/>
            <a:ext cx="6680483" cy="32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1" u="none" cap="none" strike="noStrike">
                <a:solidFill>
                  <a:srgbClr val="D95B37"/>
                </a:solidFill>
                <a:latin typeface="Lato"/>
                <a:ea typeface="Lato"/>
                <a:cs typeface="Lato"/>
                <a:sym typeface="Lato"/>
              </a:rPr>
              <a:t>SUMMARY &amp; TIMELINE — SLIDE 9</a:t>
            </a:r>
            <a:endParaRPr/>
          </a:p>
        </p:txBody>
      </p:sp>
      <p:sp>
        <p:nvSpPr>
          <p:cNvPr id="359" name="Google Shape;359;p9"/>
          <p:cNvSpPr txBox="1"/>
          <p:nvPr/>
        </p:nvSpPr>
        <p:spPr>
          <a:xfrm>
            <a:off x="640509" y="622240"/>
            <a:ext cx="135438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Two Proposals · One City · ₱0 Operating Cost</a:t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480431" y="1400127"/>
            <a:ext cx="8647843" cy="3321844"/>
          </a:xfrm>
          <a:custGeom>
            <a:rect b="b" l="l" r="r" t="t"/>
            <a:pathLst>
              <a:path extrusionOk="0" h="4429125" w="11530457">
                <a:moveTo>
                  <a:pt x="0" y="0"/>
                </a:moveTo>
                <a:lnTo>
                  <a:pt x="11530457" y="0"/>
                </a:lnTo>
                <a:lnTo>
                  <a:pt x="11530457" y="4429125"/>
                </a:lnTo>
                <a:lnTo>
                  <a:pt x="0" y="4429125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361" name="Google Shape;361;p9"/>
          <p:cNvSpPr txBox="1"/>
          <p:nvPr/>
        </p:nvSpPr>
        <p:spPr>
          <a:xfrm>
            <a:off x="846411" y="1555661"/>
            <a:ext cx="7915885" cy="48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TrikeRoxas FairFare Portal</a:t>
            </a:r>
            <a:endParaRPr/>
          </a:p>
        </p:txBody>
      </p:sp>
      <p:sp>
        <p:nvSpPr>
          <p:cNvPr id="362" name="Google Shape;362;p9"/>
          <p:cNvSpPr txBox="1"/>
          <p:nvPr/>
        </p:nvSpPr>
        <p:spPr>
          <a:xfrm>
            <a:off x="846411" y="2241994"/>
            <a:ext cx="7915885" cy="2379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GovTech QR-scan transparency engine that converts fare overcharge frustration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into structured digital incident tickets — fed to an LGU enforcement dashboard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with a 3-report automatic escalation threshold.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26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Stack: HTML5 / Tailwind / Leaflet.js / Supabase / Node.js / Vercel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Cost: ₱0 / month</a:t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9471441" y="1400127"/>
            <a:ext cx="8647843" cy="3321844"/>
          </a:xfrm>
          <a:custGeom>
            <a:rect b="b" l="l" r="r" t="t"/>
            <a:pathLst>
              <a:path extrusionOk="0" h="4429125" w="11530457">
                <a:moveTo>
                  <a:pt x="0" y="0"/>
                </a:moveTo>
                <a:lnTo>
                  <a:pt x="11530457" y="0"/>
                </a:lnTo>
                <a:lnTo>
                  <a:pt x="11530457" y="4429125"/>
                </a:lnTo>
                <a:lnTo>
                  <a:pt x="0" y="4429125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  <p:sp>
        <p:nvSpPr>
          <p:cNvPr id="364" name="Google Shape;364;p9"/>
          <p:cNvSpPr txBox="1"/>
          <p:nvPr/>
        </p:nvSpPr>
        <p:spPr>
          <a:xfrm>
            <a:off x="9837410" y="1555661"/>
            <a:ext cx="7915885" cy="48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BalayCapiz Student Housing Portal</a:t>
            </a:r>
            <a:endParaRPr/>
          </a:p>
        </p:txBody>
      </p:sp>
      <p:sp>
        <p:nvSpPr>
          <p:cNvPr id="365" name="Google Shape;365;p9"/>
          <p:cNvSpPr txBox="1"/>
          <p:nvPr/>
        </p:nvSpPr>
        <p:spPr>
          <a:xfrm>
            <a:off x="9837410" y="2241994"/>
            <a:ext cx="7915885" cy="2379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hyper-local housing discovery platform replacing Facebook group chaos with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verified listings filtered by campus proximity, CAPELCO rate compliance,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flood risk, and BFP fire clearance — with one-tap landlord contact.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26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Stack: HTML / Tailwind / React / Leaflet.js / Supabase / Vercel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Cost: ₱0 / month</a:t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571871" y="4987338"/>
            <a:ext cx="17112796" cy="43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1C3A3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Implementation Timeline</a:t>
            </a:r>
            <a:endParaRPr/>
          </a:p>
        </p:txBody>
      </p:sp>
      <p:graphicFrame>
        <p:nvGraphicFramePr>
          <p:cNvPr id="367" name="Google Shape;367;p9"/>
          <p:cNvGraphicFramePr/>
          <p:nvPr/>
        </p:nvGraphicFramePr>
        <p:xfrm>
          <a:off x="480435" y="5559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{EDBD185C-7CF8-4867-B89C-8E54964398B5}</a:tableStyleId>
              </a:tblPr>
              <a:tblGrid>
                <a:gridCol w="2154325"/>
                <a:gridCol w="2154325"/>
                <a:gridCol w="2154325"/>
                <a:gridCol w="2154325"/>
                <a:gridCol w="2154325"/>
                <a:gridCol w="2154325"/>
                <a:gridCol w="2154325"/>
                <a:gridCol w="2154325"/>
              </a:tblGrid>
              <a:tr h="184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Wk 1–2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Wk 3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0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Wk 4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0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Wk 5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Wk 6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Wk 7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4A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Wk 8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4A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1" u="none" cap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Defense</a:t>
                      </a:r>
                      <a:endParaRPr sz="1100" u="none" cap="none" strike="noStrike"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5B37"/>
                    </a:solidFill>
                  </a:tcPr>
                </a:tc>
              </a:tr>
              <a:tr h="184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Research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stakeholders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fare &amp; rent data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Wireframe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both portals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Set up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Supabase schema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both projects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Build core: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QR fare lookup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(TrikeRoxas)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Build core: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Housing search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&amp; filter flow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Internal testing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Pre-seed 20–30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BalayCapiz listings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 polish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Slide deck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assembly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Oral Defense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200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cap="none" strike="noStrike">
                          <a:solidFill>
                            <a:srgbClr val="1C3A3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FE101 Evaluators</a:t>
                      </a:r>
                      <a:endParaRPr/>
                    </a:p>
                  </a:txBody>
                  <a:tcPr marT="91450" marB="9145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CE0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p9"/>
          <p:cNvSpPr/>
          <p:nvPr/>
        </p:nvSpPr>
        <p:spPr>
          <a:xfrm>
            <a:off x="480431" y="9471441"/>
            <a:ext cx="17295685" cy="41148"/>
          </a:xfrm>
          <a:custGeom>
            <a:rect b="b" l="l" r="r" t="t"/>
            <a:pathLst>
              <a:path extrusionOk="0" h="54864" w="23060913">
                <a:moveTo>
                  <a:pt x="0" y="0"/>
                </a:moveTo>
                <a:lnTo>
                  <a:pt x="23060913" y="0"/>
                </a:lnTo>
                <a:lnTo>
                  <a:pt x="23060913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2E866E"/>
          </a:solidFill>
          <a:ln>
            <a:noFill/>
          </a:ln>
        </p:spPr>
      </p:sp>
      <p:sp>
        <p:nvSpPr>
          <p:cNvPr id="369" name="Google Shape;369;p9"/>
          <p:cNvSpPr txBox="1"/>
          <p:nvPr/>
        </p:nvSpPr>
        <p:spPr>
          <a:xfrm>
            <a:off x="571871" y="9644901"/>
            <a:ext cx="17112796" cy="39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B7B74"/>
                </a:solidFill>
                <a:latin typeface="Lato"/>
                <a:ea typeface="Lato"/>
                <a:cs typeface="Lato"/>
                <a:sym typeface="Lato"/>
              </a:rPr>
              <a:t>Hercor College  ·  CSD  ·  FE101  ·  Instructor: Michelle S. Jamelarin  ·  Group 4: Aldea · Tibudan · Dumaniel · Borro · Villa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0" y="10198960"/>
            <a:ext cx="18297715" cy="96107"/>
          </a:xfrm>
          <a:custGeom>
            <a:rect b="b" l="l" r="r" t="t"/>
            <a:pathLst>
              <a:path extrusionOk="0" h="128143" w="24396954">
                <a:moveTo>
                  <a:pt x="0" y="0"/>
                </a:moveTo>
                <a:lnTo>
                  <a:pt x="24396954" y="0"/>
                </a:lnTo>
                <a:lnTo>
                  <a:pt x="24396954" y="128143"/>
                </a:lnTo>
                <a:lnTo>
                  <a:pt x="0" y="128143"/>
                </a:lnTo>
                <a:close/>
              </a:path>
            </a:pathLst>
          </a:custGeom>
          <a:solidFill>
            <a:srgbClr val="D95B37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